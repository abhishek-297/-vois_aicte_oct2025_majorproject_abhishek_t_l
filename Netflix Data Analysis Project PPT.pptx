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Trebuchet MS" charset="1" panose="020B0603020202020204"/>
      <p:regular r:id="rId19"/>
    </p:embeddedFont>
    <p:embeddedFont>
      <p:font typeface="Trebuchet MS Bold" charset="1" panose="020B0703020202020204"/>
      <p:regular r:id="rId20"/>
    </p:embeddedFont>
    <p:embeddedFont>
      <p:font typeface="Arial" charset="1" panose="020B060402020202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Masters/notesMaster1.xml" Type="http://schemas.openxmlformats.org/officeDocument/2006/relationships/notesMaster"/><Relationship Id="rId23" Target="theme/theme2.xml" Type="http://schemas.openxmlformats.org/officeDocument/2006/relationships/theme"/><Relationship Id="rId24" Target="notesSlides/notesSlide1.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3.png" Type="http://schemas.openxmlformats.org/officeDocument/2006/relationships/image"/><Relationship Id="rId4"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jpeg" Type="http://schemas.openxmlformats.org/officeDocument/2006/relationships/image"/><Relationship Id="rId4"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10/15/2025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110464" y="2074213"/>
            <a:ext cx="1844349" cy="1589956"/>
            <a:chOff x="0" y="0"/>
            <a:chExt cx="2459132" cy="2119942"/>
          </a:xfrm>
        </p:grpSpPr>
        <p:sp>
          <p:nvSpPr>
            <p:cNvPr name="Freeform 30" id="30"/>
            <p:cNvSpPr/>
            <p:nvPr/>
          </p:nvSpPr>
          <p:spPr>
            <a:xfrm flipH="false" flipV="false" rot="0">
              <a:off x="0" y="0"/>
              <a:ext cx="2459101" cy="2119884"/>
            </a:xfrm>
            <a:custGeom>
              <a:avLst/>
              <a:gdLst/>
              <a:ahLst/>
              <a:cxnLst/>
              <a:rect r="r" b="b" t="t" l="l"/>
              <a:pathLst>
                <a:path h="2119884" w="2459101">
                  <a:moveTo>
                    <a:pt x="0" y="1059942"/>
                  </a:moveTo>
                  <a:lnTo>
                    <a:pt x="529971" y="0"/>
                  </a:lnTo>
                  <a:lnTo>
                    <a:pt x="1929130" y="0"/>
                  </a:lnTo>
                  <a:lnTo>
                    <a:pt x="2459101" y="1059942"/>
                  </a:lnTo>
                  <a:lnTo>
                    <a:pt x="1929130" y="2119884"/>
                  </a:lnTo>
                  <a:lnTo>
                    <a:pt x="529971" y="2119884"/>
                  </a:lnTo>
                  <a:close/>
                </a:path>
              </a:pathLst>
            </a:custGeom>
            <a:solidFill>
              <a:srgbClr val="5FCBEF"/>
            </a:solidFill>
          </p:spPr>
        </p:sp>
      </p:grpSp>
      <p:grpSp>
        <p:nvGrpSpPr>
          <p:cNvPr name="Group 31" id="31"/>
          <p:cNvGrpSpPr/>
          <p:nvPr/>
        </p:nvGrpSpPr>
        <p:grpSpPr>
          <a:xfrm rot="0">
            <a:off x="5632546" y="1791930"/>
            <a:ext cx="2499243" cy="2154520"/>
            <a:chOff x="0" y="0"/>
            <a:chExt cx="3332324" cy="2872694"/>
          </a:xfrm>
        </p:grpSpPr>
        <p:sp>
          <p:nvSpPr>
            <p:cNvPr name="Freeform 32" id="32"/>
            <p:cNvSpPr/>
            <p:nvPr/>
          </p:nvSpPr>
          <p:spPr>
            <a:xfrm flipH="false" flipV="false" rot="0">
              <a:off x="0" y="0"/>
              <a:ext cx="3332353" cy="2872740"/>
            </a:xfrm>
            <a:custGeom>
              <a:avLst/>
              <a:gdLst/>
              <a:ahLst/>
              <a:cxnLst/>
              <a:rect r="r" b="b" t="t" l="l"/>
              <a:pathLst>
                <a:path h="2872740" w="3332353">
                  <a:moveTo>
                    <a:pt x="0" y="1436370"/>
                  </a:moveTo>
                  <a:lnTo>
                    <a:pt x="718185" y="0"/>
                  </a:lnTo>
                  <a:lnTo>
                    <a:pt x="2614168" y="0"/>
                  </a:lnTo>
                  <a:lnTo>
                    <a:pt x="3332353" y="1436370"/>
                  </a:lnTo>
                  <a:lnTo>
                    <a:pt x="2614168" y="2872740"/>
                  </a:lnTo>
                  <a:lnTo>
                    <a:pt x="718185" y="2872740"/>
                  </a:lnTo>
                  <a:close/>
                </a:path>
              </a:pathLst>
            </a:custGeom>
            <a:solidFill>
              <a:srgbClr val="42D0A2"/>
            </a:solidFill>
          </p:spPr>
        </p:sp>
      </p:grpSp>
      <p:grpSp>
        <p:nvGrpSpPr>
          <p:cNvPr name="Group 33" id="33"/>
          <p:cNvGrpSpPr/>
          <p:nvPr/>
        </p:nvGrpSpPr>
        <p:grpSpPr>
          <a:xfrm rot="0">
            <a:off x="5707491" y="7849774"/>
            <a:ext cx="1077391" cy="928786"/>
            <a:chOff x="0" y="0"/>
            <a:chExt cx="1436522" cy="1238382"/>
          </a:xfrm>
        </p:grpSpPr>
        <p:sp>
          <p:nvSpPr>
            <p:cNvPr name="Freeform 34" id="34"/>
            <p:cNvSpPr/>
            <p:nvPr/>
          </p:nvSpPr>
          <p:spPr>
            <a:xfrm flipH="false" flipV="false" rot="0">
              <a:off x="0" y="0"/>
              <a:ext cx="1436497" cy="1238377"/>
            </a:xfrm>
            <a:custGeom>
              <a:avLst/>
              <a:gdLst/>
              <a:ahLst/>
              <a:cxnLst/>
              <a:rect r="r" b="b" t="t" l="l"/>
              <a:pathLst>
                <a:path h="1238377" w="1436497">
                  <a:moveTo>
                    <a:pt x="0" y="619252"/>
                  </a:moveTo>
                  <a:lnTo>
                    <a:pt x="309626" y="0"/>
                  </a:lnTo>
                  <a:lnTo>
                    <a:pt x="1126871" y="0"/>
                  </a:lnTo>
                  <a:lnTo>
                    <a:pt x="1436497" y="619252"/>
                  </a:lnTo>
                  <a:lnTo>
                    <a:pt x="1126871" y="1238377"/>
                  </a:lnTo>
                  <a:lnTo>
                    <a:pt x="309626" y="1238377"/>
                  </a:lnTo>
                  <a:close/>
                </a:path>
              </a:pathLst>
            </a:custGeom>
            <a:solidFill>
              <a:srgbClr val="42B051"/>
            </a:solidFill>
          </p:spPr>
        </p:sp>
      </p:grpSp>
      <p:grpSp>
        <p:nvGrpSpPr>
          <p:cNvPr name="Group 35" id="35"/>
          <p:cNvGrpSpPr/>
          <p:nvPr/>
        </p:nvGrpSpPr>
        <p:grpSpPr>
          <a:xfrm rot="0">
            <a:off x="2756757" y="1651959"/>
            <a:ext cx="977420" cy="842604"/>
            <a:chOff x="0" y="0"/>
            <a:chExt cx="1303226" cy="1123472"/>
          </a:xfrm>
        </p:grpSpPr>
        <p:sp>
          <p:nvSpPr>
            <p:cNvPr name="Freeform 36" id="36"/>
            <p:cNvSpPr/>
            <p:nvPr/>
          </p:nvSpPr>
          <p:spPr>
            <a:xfrm flipH="false" flipV="false" rot="0">
              <a:off x="0" y="0"/>
              <a:ext cx="1303274" cy="1123442"/>
            </a:xfrm>
            <a:custGeom>
              <a:avLst/>
              <a:gdLst/>
              <a:ahLst/>
              <a:cxnLst/>
              <a:rect r="r" b="b" t="t" l="l"/>
              <a:pathLst>
                <a:path h="1123442" w="1303274">
                  <a:moveTo>
                    <a:pt x="0" y="561721"/>
                  </a:moveTo>
                  <a:lnTo>
                    <a:pt x="280924" y="0"/>
                  </a:lnTo>
                  <a:lnTo>
                    <a:pt x="1022350" y="0"/>
                  </a:lnTo>
                  <a:lnTo>
                    <a:pt x="1303274" y="561721"/>
                  </a:lnTo>
                  <a:lnTo>
                    <a:pt x="1022350" y="1123442"/>
                  </a:lnTo>
                  <a:lnTo>
                    <a:pt x="280924" y="1123442"/>
                  </a:lnTo>
                  <a:close/>
                </a:path>
              </a:pathLst>
            </a:custGeom>
            <a:solidFill>
              <a:srgbClr val="2E946B"/>
            </a:solidFill>
          </p:spPr>
        </p:sp>
      </p:grpSp>
      <p:sp>
        <p:nvSpPr>
          <p:cNvPr name="TextBox 37" id="37"/>
          <p:cNvSpPr txBox="true"/>
          <p:nvPr/>
        </p:nvSpPr>
        <p:spPr>
          <a:xfrm rot="0">
            <a:off x="4492395" y="5366199"/>
            <a:ext cx="11650099" cy="1552575"/>
          </a:xfrm>
          <a:prstGeom prst="rect">
            <a:avLst/>
          </a:prstGeom>
        </p:spPr>
        <p:txBody>
          <a:bodyPr anchor="t" rtlCol="false" tIns="0" lIns="0" bIns="0" rIns="0">
            <a:spAutoFit/>
          </a:bodyPr>
          <a:lstStyle/>
          <a:p>
            <a:pPr algn="r">
              <a:lnSpc>
                <a:spcPts val="7319"/>
              </a:lnSpc>
            </a:pPr>
            <a:r>
              <a:rPr lang="en-US" sz="6099" b="true">
                <a:solidFill>
                  <a:srgbClr val="000000"/>
                </a:solidFill>
                <a:latin typeface="Trebuchet MS Bold"/>
                <a:ea typeface="Trebuchet MS Bold"/>
                <a:cs typeface="Trebuchet MS Bold"/>
                <a:sym typeface="Trebuchet MS Bold"/>
              </a:rPr>
              <a:t>Abhishek T L</a:t>
            </a:r>
          </a:p>
          <a:p>
            <a:pPr algn="r">
              <a:lnSpc>
                <a:spcPts val="4896"/>
              </a:lnSpc>
            </a:pPr>
            <a:r>
              <a:rPr lang="en-US" sz="4080">
                <a:solidFill>
                  <a:srgbClr val="000000"/>
                </a:solidFill>
                <a:latin typeface="Trebuchet MS"/>
                <a:ea typeface="Trebuchet MS"/>
                <a:cs typeface="Trebuchet MS"/>
                <a:sym typeface="Trebuchet MS"/>
              </a:rPr>
              <a:t>student AICTE ID - STU67df9ba591ecd1742707621</a:t>
            </a:r>
          </a:p>
        </p:txBody>
      </p:sp>
      <p:sp>
        <p:nvSpPr>
          <p:cNvPr name="TextBox 38" id="38"/>
          <p:cNvSpPr txBox="true"/>
          <p:nvPr/>
        </p:nvSpPr>
        <p:spPr>
          <a:xfrm rot="0">
            <a:off x="8582342" y="2459615"/>
            <a:ext cx="7315200" cy="809625"/>
          </a:xfrm>
          <a:prstGeom prst="rect">
            <a:avLst/>
          </a:prstGeom>
        </p:spPr>
        <p:txBody>
          <a:bodyPr anchor="t" rtlCol="false" tIns="0" lIns="0" bIns="0" rIns="0">
            <a:spAutoFit/>
          </a:bodyPr>
          <a:lstStyle/>
          <a:p>
            <a:pPr algn="l">
              <a:lnSpc>
                <a:spcPts val="6360"/>
              </a:lnSpc>
            </a:pPr>
            <a:r>
              <a:rPr lang="en-US" sz="5300" b="true">
                <a:solidFill>
                  <a:srgbClr val="000000"/>
                </a:solidFill>
                <a:latin typeface="Trebuchet MS Bold"/>
                <a:ea typeface="Trebuchet MS Bold"/>
                <a:cs typeface="Trebuchet MS Bold"/>
                <a:sym typeface="Trebuchet MS Bold"/>
              </a:rPr>
              <a:t>Netflix data analysis </a:t>
            </a:r>
          </a:p>
        </p:txBody>
      </p:sp>
      <p:grpSp>
        <p:nvGrpSpPr>
          <p:cNvPr name="Group 39" id="39"/>
          <p:cNvGrpSpPr>
            <a:grpSpLocks noChangeAspect="true"/>
          </p:cNvGrpSpPr>
          <p:nvPr/>
        </p:nvGrpSpPr>
        <p:grpSpPr>
          <a:xfrm rot="0">
            <a:off x="1013936" y="9707880"/>
            <a:ext cx="3214688" cy="289560"/>
            <a:chOff x="0" y="0"/>
            <a:chExt cx="4286250" cy="386080"/>
          </a:xfrm>
        </p:grpSpPr>
        <p:sp>
          <p:nvSpPr>
            <p:cNvPr name="Freeform 40" id="40"/>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2"/>
              <a:stretch>
                <a:fillRect l="0" t="-2518486" r="-135857"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10/15/2025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6" y="804598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6" y="2549833"/>
            <a:ext cx="479624" cy="479623"/>
            <a:chOff x="0" y="0"/>
            <a:chExt cx="639498" cy="639498"/>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6" y="8846607"/>
            <a:ext cx="269965" cy="269966"/>
            <a:chOff x="0" y="0"/>
            <a:chExt cx="359954" cy="359954"/>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sp>
        <p:nvSpPr>
          <p:cNvPr name="TextBox 35" id="35"/>
          <p:cNvSpPr txBox="true"/>
          <p:nvPr/>
        </p:nvSpPr>
        <p:spPr>
          <a:xfrm rot="0">
            <a:off x="713490" y="2898052"/>
            <a:ext cx="9464040" cy="5339591"/>
          </a:xfrm>
          <a:prstGeom prst="rect">
            <a:avLst/>
          </a:prstGeom>
        </p:spPr>
        <p:txBody>
          <a:bodyPr anchor="t" rtlCol="false" tIns="0" lIns="0" bIns="0" rIns="0">
            <a:spAutoFit/>
          </a:bodyPr>
          <a:lstStyle/>
          <a:p>
            <a:pPr algn="l" marL="461486" indent="-230743" lvl="1">
              <a:lnSpc>
                <a:spcPts val="3060"/>
              </a:lnSpc>
              <a:buFont typeface="Arial"/>
              <a:buChar char="•"/>
            </a:pPr>
            <a:r>
              <a:rPr lang="en-US" sz="2550">
                <a:solidFill>
                  <a:srgbClr val="404040"/>
                </a:solidFill>
                <a:latin typeface="Trebuchet MS"/>
                <a:ea typeface="Trebuchet MS"/>
                <a:cs typeface="Trebuchet MS"/>
                <a:sym typeface="Trebuchet MS"/>
              </a:rPr>
              <a:t>Netflix has become one of the most prominent global streaming platforms, continuously expanding its library with a mix of original productions and licensed content. However, with growing competition from platforms like Amazon Prime, Disney+, and regional OTT providers, Netflix must strategically analyze its content catalog to identify strengths, gaps, and opportunities.  </a:t>
            </a:r>
          </a:p>
          <a:p>
            <a:pPr algn="l" marL="461486" indent="-230743" lvl="1">
              <a:lnSpc>
                <a:spcPts val="3060"/>
              </a:lnSpc>
              <a:buFont typeface="Arial"/>
              <a:buChar char="•"/>
            </a:pPr>
            <a:r>
              <a:rPr lang="en-US" sz="2550">
                <a:solidFill>
                  <a:srgbClr val="404040"/>
                </a:solidFill>
                <a:latin typeface="Trebuchet MS"/>
                <a:ea typeface="Trebuchet MS"/>
                <a:cs typeface="Trebuchet MS"/>
                <a:sym typeface="Trebuchet MS"/>
              </a:rPr>
              <a:t>The specific problem to be addressed in this project is </a:t>
            </a:r>
            <a:r>
              <a:rPr lang="en-US" b="true" sz="2550">
                <a:solidFill>
                  <a:srgbClr val="404040"/>
                </a:solidFill>
                <a:latin typeface="Trebuchet MS Bold"/>
                <a:ea typeface="Trebuchet MS Bold"/>
                <a:cs typeface="Trebuchet MS Bold"/>
                <a:sym typeface="Trebuchet MS Bold"/>
              </a:rPr>
              <a:t>'Content Trends Analysis for Strategic Recommendations</a:t>
            </a:r>
            <a:r>
              <a:rPr lang="en-US" sz="2550">
                <a:solidFill>
                  <a:srgbClr val="404040"/>
                </a:solidFill>
                <a:latin typeface="Trebuchet MS"/>
                <a:ea typeface="Trebuchet MS"/>
                <a:cs typeface="Trebuchet MS"/>
                <a:sym typeface="Trebuchet MS"/>
              </a:rPr>
              <a:t>'. The aim is to uncover how Netflix’s content distribution (Movies vs. TV Shows, genres, and country contributions) has evolved over the years. This will enable the identification of key genres, audience preferences, and strategic insights into global content expansion. </a:t>
            </a:r>
          </a:p>
          <a:p>
            <a:pPr algn="l" marL="461486" indent="-230743" lvl="1">
              <a:lnSpc>
                <a:spcPts val="4131"/>
              </a:lnSpc>
            </a:pPr>
          </a:p>
        </p:txBody>
      </p:sp>
      <p:sp>
        <p:nvSpPr>
          <p:cNvPr name="TextBox 36" id="36"/>
          <p:cNvSpPr txBox="true"/>
          <p:nvPr/>
        </p:nvSpPr>
        <p:spPr>
          <a:xfrm rot="0">
            <a:off x="1223343" y="861821"/>
            <a:ext cx="10310526" cy="1103252"/>
          </a:xfrm>
          <a:prstGeom prst="rect">
            <a:avLst/>
          </a:prstGeom>
        </p:spPr>
        <p:txBody>
          <a:bodyPr anchor="t" rtlCol="false" tIns="0" lIns="0" bIns="0" rIns="0">
            <a:spAutoFit/>
          </a:bodyPr>
          <a:lstStyle/>
          <a:p>
            <a:pPr algn="l">
              <a:lnSpc>
                <a:spcPts val="7776"/>
              </a:lnSpc>
            </a:pPr>
            <a:r>
              <a:rPr lang="en-US" sz="6480" b="true">
                <a:solidFill>
                  <a:srgbClr val="000000"/>
                </a:solidFill>
                <a:latin typeface="Trebuchet MS Bold"/>
                <a:ea typeface="Trebuchet MS Bold"/>
                <a:cs typeface="Trebuchet MS Bold"/>
                <a:sym typeface="Trebuchet MS Bold"/>
              </a:rPr>
              <a:t>PROBLEM  STATEMENT</a:t>
            </a:r>
          </a:p>
        </p:txBody>
      </p:sp>
      <p:grpSp>
        <p:nvGrpSpPr>
          <p:cNvPr name="Group 37" id="37"/>
          <p:cNvGrpSpPr>
            <a:grpSpLocks noChangeAspect="true"/>
          </p:cNvGrpSpPr>
          <p:nvPr/>
        </p:nvGrpSpPr>
        <p:grpSpPr>
          <a:xfrm rot="0">
            <a:off x="11993526" y="4396251"/>
            <a:ext cx="4141137" cy="4896614"/>
            <a:chOff x="0" y="0"/>
            <a:chExt cx="5521516" cy="6528818"/>
          </a:xfrm>
        </p:grpSpPr>
        <p:sp>
          <p:nvSpPr>
            <p:cNvPr name="Freeform 38" id="38"/>
            <p:cNvSpPr/>
            <p:nvPr/>
          </p:nvSpPr>
          <p:spPr>
            <a:xfrm flipH="false" flipV="false" rot="0">
              <a:off x="0" y="0"/>
              <a:ext cx="5521579" cy="6528816"/>
            </a:xfrm>
            <a:custGeom>
              <a:avLst/>
              <a:gdLst/>
              <a:ahLst/>
              <a:cxnLst/>
              <a:rect r="r" b="b" t="t" l="l"/>
              <a:pathLst>
                <a:path h="6528816" w="5521579">
                  <a:moveTo>
                    <a:pt x="0" y="0"/>
                  </a:moveTo>
                  <a:lnTo>
                    <a:pt x="5521579" y="0"/>
                  </a:lnTo>
                  <a:lnTo>
                    <a:pt x="5521579" y="6528816"/>
                  </a:lnTo>
                  <a:lnTo>
                    <a:pt x="0" y="6528816"/>
                  </a:lnTo>
                  <a:lnTo>
                    <a:pt x="0" y="0"/>
                  </a:lnTo>
                  <a:close/>
                </a:path>
              </a:pathLst>
            </a:custGeom>
            <a:blipFill>
              <a:blip r:embed="rId2"/>
              <a:stretch>
                <a:fillRect l="0" t="0" r="1" b="0"/>
              </a:stretch>
            </a:blipFill>
          </p:spPr>
        </p:sp>
      </p:grpSp>
      <p:grpSp>
        <p:nvGrpSpPr>
          <p:cNvPr name="Group 39" id="39"/>
          <p:cNvGrpSpPr>
            <a:grpSpLocks noChangeAspect="true"/>
          </p:cNvGrpSpPr>
          <p:nvPr/>
        </p:nvGrpSpPr>
        <p:grpSpPr>
          <a:xfrm rot="0">
            <a:off x="1013936" y="9707880"/>
            <a:ext cx="3214688" cy="289560"/>
            <a:chOff x="0" y="0"/>
            <a:chExt cx="4286250" cy="386080"/>
          </a:xfrm>
        </p:grpSpPr>
        <p:sp>
          <p:nvSpPr>
            <p:cNvPr name="Freeform 40" id="40"/>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10/15/2025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6" y="804598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6" y="2549833"/>
            <a:ext cx="479624" cy="479623"/>
            <a:chOff x="0" y="0"/>
            <a:chExt cx="639498" cy="639498"/>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6" y="8846607"/>
            <a:ext cx="269965" cy="269966"/>
            <a:chOff x="0" y="0"/>
            <a:chExt cx="359954" cy="359954"/>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sp>
        <p:nvSpPr>
          <p:cNvPr name="TextBox 35" id="35"/>
          <p:cNvSpPr txBox="true"/>
          <p:nvPr/>
        </p:nvSpPr>
        <p:spPr>
          <a:xfrm rot="0">
            <a:off x="1082038" y="1244015"/>
            <a:ext cx="9231284" cy="1164581"/>
          </a:xfrm>
          <a:prstGeom prst="rect">
            <a:avLst/>
          </a:prstGeom>
        </p:spPr>
        <p:txBody>
          <a:bodyPr anchor="t" rtlCol="false" tIns="0" lIns="0" bIns="0" rIns="0">
            <a:spAutoFit/>
          </a:bodyPr>
          <a:lstStyle/>
          <a:p>
            <a:pPr algn="l">
              <a:lnSpc>
                <a:spcPts val="7776"/>
              </a:lnSpc>
            </a:pPr>
            <a:r>
              <a:rPr lang="en-US" sz="6480" b="true">
                <a:solidFill>
                  <a:srgbClr val="000000"/>
                </a:solidFill>
                <a:latin typeface="Trebuchet MS Bold"/>
                <a:ea typeface="Trebuchet MS Bold"/>
                <a:cs typeface="Trebuchet MS Bold"/>
                <a:sym typeface="Trebuchet MS Bold"/>
              </a:rPr>
              <a:t>Project Description</a:t>
            </a:r>
          </a:p>
          <a:p>
            <a:pPr algn="l">
              <a:lnSpc>
                <a:spcPts val="7776"/>
              </a:lnSpc>
            </a:pPr>
          </a:p>
          <a:p>
            <a:pPr algn="l">
              <a:lnSpc>
                <a:spcPts val="7776"/>
              </a:lnSpc>
            </a:pPr>
          </a:p>
        </p:txBody>
      </p:sp>
      <p:grpSp>
        <p:nvGrpSpPr>
          <p:cNvPr name="Group 36" id="36"/>
          <p:cNvGrpSpPr>
            <a:grpSpLocks noChangeAspect="true"/>
          </p:cNvGrpSpPr>
          <p:nvPr/>
        </p:nvGrpSpPr>
        <p:grpSpPr>
          <a:xfrm rot="0">
            <a:off x="1013936" y="9707880"/>
            <a:ext cx="3214688" cy="289560"/>
            <a:chOff x="0" y="0"/>
            <a:chExt cx="4286250" cy="386080"/>
          </a:xfrm>
        </p:grpSpPr>
        <p:sp>
          <p:nvSpPr>
            <p:cNvPr name="Freeform 37" id="37"/>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2"/>
              <a:stretch>
                <a:fillRect l="0" t="-2518486" r="-135857" b="0"/>
              </a:stretch>
            </a:blipFill>
          </p:spPr>
        </p:sp>
      </p:grpSp>
      <p:grpSp>
        <p:nvGrpSpPr>
          <p:cNvPr name="Group 38" id="38"/>
          <p:cNvGrpSpPr>
            <a:grpSpLocks noChangeAspect="true"/>
          </p:cNvGrpSpPr>
          <p:nvPr/>
        </p:nvGrpSpPr>
        <p:grpSpPr>
          <a:xfrm rot="0">
            <a:off x="701038" y="9615692"/>
            <a:ext cx="5559380" cy="444138"/>
            <a:chOff x="0" y="0"/>
            <a:chExt cx="7412506" cy="592184"/>
          </a:xfrm>
        </p:grpSpPr>
        <p:sp>
          <p:nvSpPr>
            <p:cNvPr name="Freeform 39" id="39"/>
            <p:cNvSpPr/>
            <p:nvPr/>
          </p:nvSpPr>
          <p:spPr>
            <a:xfrm flipH="false" flipV="false" rot="0">
              <a:off x="0" y="0"/>
              <a:ext cx="7412482" cy="592201"/>
            </a:xfrm>
            <a:custGeom>
              <a:avLst/>
              <a:gdLst/>
              <a:ahLst/>
              <a:cxnLst/>
              <a:rect r="r" b="b" t="t" l="l"/>
              <a:pathLst>
                <a:path h="592201" w="7412482">
                  <a:moveTo>
                    <a:pt x="0" y="0"/>
                  </a:moveTo>
                  <a:lnTo>
                    <a:pt x="7412482" y="0"/>
                  </a:lnTo>
                  <a:lnTo>
                    <a:pt x="7412482" y="592201"/>
                  </a:lnTo>
                  <a:lnTo>
                    <a:pt x="0" y="592201"/>
                  </a:lnTo>
                  <a:lnTo>
                    <a:pt x="0" y="0"/>
                  </a:lnTo>
                  <a:close/>
                </a:path>
              </a:pathLst>
            </a:custGeom>
            <a:blipFill>
              <a:blip r:embed="rId3"/>
              <a:stretch>
                <a:fillRect l="0" t="0" r="0" b="2"/>
              </a:stretch>
            </a:blipFill>
          </p:spPr>
        </p:sp>
      </p:grpSp>
      <p:sp>
        <p:nvSpPr>
          <p:cNvPr name="TextBox 40" id="40"/>
          <p:cNvSpPr txBox="true"/>
          <p:nvPr/>
        </p:nvSpPr>
        <p:spPr>
          <a:xfrm rot="0">
            <a:off x="890449" y="3093459"/>
            <a:ext cx="14218920" cy="5873562"/>
          </a:xfrm>
          <a:prstGeom prst="rect">
            <a:avLst/>
          </a:prstGeom>
        </p:spPr>
        <p:txBody>
          <a:bodyPr anchor="t" rtlCol="false" tIns="0" lIns="0" bIns="0" rIns="0">
            <a:spAutoFit/>
          </a:bodyPr>
          <a:lstStyle/>
          <a:p>
            <a:pPr algn="l" marL="488632" indent="-244316" lvl="1">
              <a:lnSpc>
                <a:spcPts val="3240"/>
              </a:lnSpc>
              <a:buAutoNum type="arabicPeriod" startAt="1"/>
            </a:pPr>
            <a:r>
              <a:rPr lang="en-US" b="true" sz="2700">
                <a:solidFill>
                  <a:srgbClr val="000000"/>
                </a:solidFill>
                <a:latin typeface="Trebuchet MS Bold"/>
                <a:ea typeface="Trebuchet MS Bold"/>
                <a:cs typeface="Trebuchet MS Bold"/>
                <a:sym typeface="Trebuchet MS Bold"/>
              </a:rPr>
              <a:t>Analyze</a:t>
            </a:r>
            <a:r>
              <a:rPr lang="en-US" sz="2700">
                <a:solidFill>
                  <a:srgbClr val="000000"/>
                </a:solidFill>
                <a:latin typeface="Trebuchet MS"/>
                <a:ea typeface="Trebuchet MS"/>
                <a:cs typeface="Trebuchet MS"/>
                <a:sym typeface="Trebuchet MS"/>
              </a:rPr>
              <a:t> the distribution and growth of Movies and TV Shows on Netflix over the years.</a:t>
            </a:r>
          </a:p>
          <a:p>
            <a:pPr algn="l" marL="488632" indent="-244316" lvl="1">
              <a:lnSpc>
                <a:spcPts val="3240"/>
              </a:lnSpc>
              <a:buAutoNum type="arabicPeriod" startAt="1"/>
            </a:pPr>
            <a:r>
              <a:rPr lang="en-US" b="true" sz="2700">
                <a:solidFill>
                  <a:srgbClr val="000000"/>
                </a:solidFill>
                <a:latin typeface="Trebuchet MS Bold"/>
                <a:ea typeface="Trebuchet MS Bold"/>
                <a:cs typeface="Trebuchet MS Bold"/>
                <a:sym typeface="Trebuchet MS Bold"/>
              </a:rPr>
              <a:t>Identify</a:t>
            </a:r>
            <a:r>
              <a:rPr lang="en-US" sz="2700">
                <a:solidFill>
                  <a:srgbClr val="000000"/>
                </a:solidFill>
                <a:latin typeface="Trebuchet MS"/>
                <a:ea typeface="Trebuchet MS"/>
                <a:cs typeface="Trebuchet MS"/>
                <a:sym typeface="Trebuchet MS"/>
              </a:rPr>
              <a:t> the most frequent genres and observe changes in their popularity.</a:t>
            </a:r>
          </a:p>
          <a:p>
            <a:pPr algn="l" marL="488632" indent="-244316" lvl="1">
              <a:lnSpc>
                <a:spcPts val="3240"/>
              </a:lnSpc>
              <a:buAutoNum type="arabicPeriod" startAt="1"/>
            </a:pPr>
            <a:r>
              <a:rPr lang="en-US" b="true" sz="2700">
                <a:solidFill>
                  <a:srgbClr val="000000"/>
                </a:solidFill>
                <a:latin typeface="Trebuchet MS Bold"/>
                <a:ea typeface="Trebuchet MS Bold"/>
                <a:cs typeface="Trebuchet MS Bold"/>
                <a:sym typeface="Trebuchet MS Bold"/>
              </a:rPr>
              <a:t>Compare</a:t>
            </a:r>
            <a:r>
              <a:rPr lang="en-US" sz="2700">
                <a:solidFill>
                  <a:srgbClr val="000000"/>
                </a:solidFill>
                <a:latin typeface="Trebuchet MS"/>
                <a:ea typeface="Trebuchet MS"/>
                <a:cs typeface="Trebuchet MS"/>
                <a:sym typeface="Trebuchet MS"/>
              </a:rPr>
              <a:t> country-wise contributions to Netflix’s content base to assess global diversity.</a:t>
            </a:r>
          </a:p>
          <a:p>
            <a:pPr algn="l" marL="488632" indent="-244316" lvl="1">
              <a:lnSpc>
                <a:spcPts val="3240"/>
              </a:lnSpc>
              <a:buAutoNum type="arabicPeriod" startAt="1"/>
            </a:pPr>
            <a:r>
              <a:rPr lang="en-US" b="true" sz="2700">
                <a:solidFill>
                  <a:srgbClr val="000000"/>
                </a:solidFill>
                <a:latin typeface="Trebuchet MS Bold"/>
                <a:ea typeface="Trebuchet MS Bold"/>
                <a:cs typeface="Trebuchet MS Bold"/>
                <a:sym typeface="Trebuchet MS Bold"/>
              </a:rPr>
              <a:t>Provide</a:t>
            </a:r>
            <a:r>
              <a:rPr lang="en-US" sz="2700">
                <a:solidFill>
                  <a:srgbClr val="000000"/>
                </a:solidFill>
                <a:latin typeface="Trebuchet MS"/>
                <a:ea typeface="Trebuchet MS"/>
                <a:cs typeface="Trebuchet MS"/>
                <a:sym typeface="Trebuchet MS"/>
              </a:rPr>
              <a:t> strategic recommendations for future content acquisition and production.</a:t>
            </a:r>
          </a:p>
          <a:p>
            <a:pPr algn="l" marL="488632" indent="-244316" lvl="1">
              <a:lnSpc>
                <a:spcPts val="3240"/>
              </a:lnSpc>
            </a:pPr>
          </a:p>
          <a:p>
            <a:pPr algn="l" marL="488632" indent="-244316" lvl="1">
              <a:lnSpc>
                <a:spcPts val="3240"/>
              </a:lnSpc>
            </a:pPr>
          </a:p>
          <a:p>
            <a:pPr algn="l" marL="488632" indent="-244316" lvl="1">
              <a:lnSpc>
                <a:spcPts val="3240"/>
              </a:lnSpc>
            </a:pPr>
            <a:r>
              <a:rPr lang="en-US" b="true" sz="2700">
                <a:solidFill>
                  <a:srgbClr val="000000"/>
                </a:solidFill>
                <a:latin typeface="Trebuchet MS Bold"/>
                <a:ea typeface="Trebuchet MS Bold"/>
                <a:cs typeface="Trebuchet MS Bold"/>
                <a:sym typeface="Trebuchet MS Bold"/>
              </a:rPr>
              <a:t>Significance of the Study</a:t>
            </a:r>
          </a:p>
          <a:p>
            <a:pPr algn="l" marL="488632" indent="-244316" lvl="1">
              <a:lnSpc>
                <a:spcPts val="3240"/>
              </a:lnSpc>
            </a:pPr>
            <a:r>
              <a:rPr lang="en-US" sz="2700">
                <a:solidFill>
                  <a:srgbClr val="000000"/>
                </a:solidFill>
                <a:latin typeface="Trebuchet MS"/>
                <a:ea typeface="Trebuchet MS"/>
                <a:cs typeface="Trebuchet MS"/>
                <a:sym typeface="Trebuchet MS"/>
              </a:rPr>
              <a:t>This analysis is significant for understanding Netflix’s </a:t>
            </a:r>
            <a:r>
              <a:rPr lang="en-US" b="true" sz="2700">
                <a:solidFill>
                  <a:srgbClr val="000000"/>
                </a:solidFill>
                <a:latin typeface="Trebuchet MS Bold"/>
                <a:ea typeface="Trebuchet MS Bold"/>
                <a:cs typeface="Trebuchet MS Bold"/>
                <a:sym typeface="Trebuchet MS Bold"/>
              </a:rPr>
              <a:t>content evolution and audience engagement patterns</a:t>
            </a:r>
            <a:r>
              <a:rPr lang="en-US" sz="2700">
                <a:solidFill>
                  <a:srgbClr val="000000"/>
                </a:solidFill>
                <a:latin typeface="Trebuchet MS"/>
                <a:ea typeface="Trebuchet MS"/>
                <a:cs typeface="Trebuchet MS"/>
                <a:sym typeface="Trebuchet MS"/>
              </a:rPr>
              <a:t>. By identifying popular genres and underrepresented regions, the study offers actionable insights that can help Netflix make </a:t>
            </a:r>
            <a:r>
              <a:rPr lang="en-US" b="true" sz="2700">
                <a:solidFill>
                  <a:srgbClr val="000000"/>
                </a:solidFill>
                <a:latin typeface="Trebuchet MS Bold"/>
                <a:ea typeface="Trebuchet MS Bold"/>
                <a:cs typeface="Trebuchet MS Bold"/>
                <a:sym typeface="Trebuchet MS Bold"/>
              </a:rPr>
              <a:t>data-driven business decisions</a:t>
            </a:r>
            <a:r>
              <a:rPr lang="en-US" sz="2700">
                <a:solidFill>
                  <a:srgbClr val="000000"/>
                </a:solidFill>
                <a:latin typeface="Trebuchet MS"/>
                <a:ea typeface="Trebuchet MS"/>
                <a:cs typeface="Trebuchet MS"/>
                <a:sym typeface="Trebuchet MS"/>
              </a:rPr>
              <a:t>. Such findings are valuable for:</a:t>
            </a:r>
          </a:p>
          <a:p>
            <a:pPr algn="l" marL="488632" indent="-244316" lvl="1">
              <a:lnSpc>
                <a:spcPts val="3240"/>
              </a:lnSpc>
              <a:buFont typeface="Arial"/>
              <a:buChar char="•"/>
            </a:pPr>
            <a:r>
              <a:rPr lang="en-US" sz="2700">
                <a:solidFill>
                  <a:srgbClr val="000000"/>
                </a:solidFill>
                <a:latin typeface="Trebuchet MS"/>
                <a:ea typeface="Trebuchet MS"/>
                <a:cs typeface="Trebuchet MS"/>
                <a:sym typeface="Trebuchet MS"/>
              </a:rPr>
              <a:t>Enhancing </a:t>
            </a:r>
            <a:r>
              <a:rPr lang="en-US" b="true" sz="2700">
                <a:solidFill>
                  <a:srgbClr val="000000"/>
                </a:solidFill>
                <a:latin typeface="Trebuchet MS Bold"/>
                <a:ea typeface="Trebuchet MS Bold"/>
                <a:cs typeface="Trebuchet MS Bold"/>
                <a:sym typeface="Trebuchet MS Bold"/>
              </a:rPr>
              <a:t>content strategy</a:t>
            </a:r>
            <a:r>
              <a:rPr lang="en-US" sz="2700">
                <a:solidFill>
                  <a:srgbClr val="000000"/>
                </a:solidFill>
                <a:latin typeface="Trebuchet MS"/>
                <a:ea typeface="Trebuchet MS"/>
                <a:cs typeface="Trebuchet MS"/>
                <a:sym typeface="Trebuchet MS"/>
              </a:rPr>
              <a:t> and balancing global vs. local productions.</a:t>
            </a:r>
          </a:p>
          <a:p>
            <a:pPr algn="l" marL="488632" indent="-244316" lvl="1">
              <a:lnSpc>
                <a:spcPts val="3240"/>
              </a:lnSpc>
              <a:buFont typeface="Arial"/>
              <a:buChar char="•"/>
            </a:pPr>
            <a:r>
              <a:rPr lang="en-US" sz="2700">
                <a:solidFill>
                  <a:srgbClr val="000000"/>
                </a:solidFill>
                <a:latin typeface="Trebuchet MS"/>
                <a:ea typeface="Trebuchet MS"/>
                <a:cs typeface="Trebuchet MS"/>
                <a:sym typeface="Trebuchet MS"/>
              </a:rPr>
              <a:t>Recognizing </a:t>
            </a:r>
            <a:r>
              <a:rPr lang="en-US" b="true" sz="2700">
                <a:solidFill>
                  <a:srgbClr val="000000"/>
                </a:solidFill>
                <a:latin typeface="Trebuchet MS Bold"/>
                <a:ea typeface="Trebuchet MS Bold"/>
                <a:cs typeface="Trebuchet MS Bold"/>
                <a:sym typeface="Trebuchet MS Bold"/>
              </a:rPr>
              <a:t>market trends</a:t>
            </a:r>
            <a:r>
              <a:rPr lang="en-US" sz="2700">
                <a:solidFill>
                  <a:srgbClr val="000000"/>
                </a:solidFill>
                <a:latin typeface="Trebuchet MS"/>
                <a:ea typeface="Trebuchet MS"/>
                <a:cs typeface="Trebuchet MS"/>
                <a:sym typeface="Trebuchet MS"/>
              </a:rPr>
              <a:t> and regional viewer interests.</a:t>
            </a:r>
          </a:p>
          <a:p>
            <a:pPr algn="l" marL="488632" indent="-244316" lvl="1">
              <a:lnSpc>
                <a:spcPts val="3240"/>
              </a:lnSpc>
              <a:buFont typeface="Arial"/>
              <a:buChar char="•"/>
            </a:pPr>
            <a:r>
              <a:rPr lang="en-US" sz="2700">
                <a:solidFill>
                  <a:srgbClr val="000000"/>
                </a:solidFill>
                <a:latin typeface="Trebuchet MS"/>
                <a:ea typeface="Trebuchet MS"/>
                <a:cs typeface="Trebuchet MS"/>
                <a:sym typeface="Trebuchet MS"/>
              </a:rPr>
              <a:t>Supporting </a:t>
            </a:r>
            <a:r>
              <a:rPr lang="en-US" b="true" sz="2700">
                <a:solidFill>
                  <a:srgbClr val="000000"/>
                </a:solidFill>
                <a:latin typeface="Trebuchet MS Bold"/>
                <a:ea typeface="Trebuchet MS Bold"/>
                <a:cs typeface="Trebuchet MS Bold"/>
                <a:sym typeface="Trebuchet MS Bold"/>
              </a:rPr>
              <a:t>strategic investments</a:t>
            </a:r>
            <a:r>
              <a:rPr lang="en-US" sz="2700">
                <a:solidFill>
                  <a:srgbClr val="000000"/>
                </a:solidFill>
                <a:latin typeface="Trebuchet MS"/>
                <a:ea typeface="Trebuchet MS"/>
                <a:cs typeface="Trebuchet MS"/>
                <a:sym typeface="Trebuchet MS"/>
              </a:rPr>
              <a:t> in specific content types and countries.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10/15/2025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6" y="804598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6" y="2549833"/>
            <a:ext cx="479624" cy="479623"/>
            <a:chOff x="0" y="0"/>
            <a:chExt cx="639498" cy="639498"/>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6" y="8846607"/>
            <a:ext cx="269965" cy="269966"/>
            <a:chOff x="0" y="0"/>
            <a:chExt cx="359954" cy="359954"/>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sp>
        <p:nvSpPr>
          <p:cNvPr name="TextBox 35" id="35"/>
          <p:cNvSpPr txBox="true"/>
          <p:nvPr/>
        </p:nvSpPr>
        <p:spPr>
          <a:xfrm rot="0">
            <a:off x="1021452" y="1351121"/>
            <a:ext cx="14886225" cy="1122046"/>
          </a:xfrm>
          <a:prstGeom prst="rect">
            <a:avLst/>
          </a:prstGeom>
        </p:spPr>
        <p:txBody>
          <a:bodyPr anchor="t" rtlCol="false" tIns="0" lIns="0" bIns="0" rIns="0">
            <a:spAutoFit/>
          </a:bodyPr>
          <a:lstStyle/>
          <a:p>
            <a:pPr algn="l">
              <a:lnSpc>
                <a:spcPts val="5759"/>
              </a:lnSpc>
            </a:pPr>
            <a:r>
              <a:rPr lang="en-US" sz="4800" b="true">
                <a:solidFill>
                  <a:srgbClr val="000000"/>
                </a:solidFill>
                <a:latin typeface="Trebuchet MS Bold"/>
                <a:ea typeface="Trebuchet MS Bold"/>
                <a:cs typeface="Trebuchet MS Bold"/>
                <a:sym typeface="Trebuchet MS Bold"/>
              </a:rPr>
              <a:t>WHO ARE THE END USERS?</a:t>
            </a:r>
          </a:p>
        </p:txBody>
      </p:sp>
      <p:grpSp>
        <p:nvGrpSpPr>
          <p:cNvPr name="Group 36" id="36"/>
          <p:cNvGrpSpPr>
            <a:grpSpLocks noChangeAspect="true"/>
          </p:cNvGrpSpPr>
          <p:nvPr/>
        </p:nvGrpSpPr>
        <p:grpSpPr>
          <a:xfrm rot="0">
            <a:off x="1082038" y="9265206"/>
            <a:ext cx="3271838" cy="728662"/>
            <a:chOff x="0" y="0"/>
            <a:chExt cx="4362450" cy="971550"/>
          </a:xfrm>
        </p:grpSpPr>
        <p:sp>
          <p:nvSpPr>
            <p:cNvPr name="Freeform 37" id="37"/>
            <p:cNvSpPr/>
            <p:nvPr/>
          </p:nvSpPr>
          <p:spPr>
            <a:xfrm flipH="false" flipV="false" rot="0">
              <a:off x="0" y="0"/>
              <a:ext cx="4362450" cy="971550"/>
            </a:xfrm>
            <a:custGeom>
              <a:avLst/>
              <a:gdLst/>
              <a:ahLst/>
              <a:cxnLst/>
              <a:rect r="r" b="b" t="t" l="l"/>
              <a:pathLst>
                <a:path h="971550" w="4362450">
                  <a:moveTo>
                    <a:pt x="0" y="0"/>
                  </a:moveTo>
                  <a:lnTo>
                    <a:pt x="4362450" y="0"/>
                  </a:lnTo>
                  <a:lnTo>
                    <a:pt x="4362450" y="971550"/>
                  </a:lnTo>
                  <a:lnTo>
                    <a:pt x="0" y="971550"/>
                  </a:lnTo>
                  <a:lnTo>
                    <a:pt x="0" y="0"/>
                  </a:lnTo>
                  <a:close/>
                </a:path>
              </a:pathLst>
            </a:custGeom>
            <a:blipFill>
              <a:blip r:embed="rId2"/>
              <a:stretch>
                <a:fillRect l="0" t="0" r="0" b="0"/>
              </a:stretch>
            </a:blipFill>
          </p:spPr>
        </p:sp>
      </p:grpSp>
      <p:grpSp>
        <p:nvGrpSpPr>
          <p:cNvPr name="Group 38" id="38"/>
          <p:cNvGrpSpPr/>
          <p:nvPr/>
        </p:nvGrpSpPr>
        <p:grpSpPr>
          <a:xfrm rot="0">
            <a:off x="815165" y="3319965"/>
            <a:ext cx="12438982" cy="2631489"/>
            <a:chOff x="0" y="0"/>
            <a:chExt cx="16585310" cy="3508652"/>
          </a:xfrm>
        </p:grpSpPr>
        <p:sp>
          <p:nvSpPr>
            <p:cNvPr name="Freeform 39" id="39"/>
            <p:cNvSpPr/>
            <p:nvPr/>
          </p:nvSpPr>
          <p:spPr>
            <a:xfrm flipH="false" flipV="false" rot="0">
              <a:off x="0" y="0"/>
              <a:ext cx="16585310" cy="3508652"/>
            </a:xfrm>
            <a:custGeom>
              <a:avLst/>
              <a:gdLst/>
              <a:ahLst/>
              <a:cxnLst/>
              <a:rect r="r" b="b" t="t" l="l"/>
              <a:pathLst>
                <a:path h="3508652" w="16585310">
                  <a:moveTo>
                    <a:pt x="0" y="0"/>
                  </a:moveTo>
                  <a:lnTo>
                    <a:pt x="16585310" y="0"/>
                  </a:lnTo>
                  <a:lnTo>
                    <a:pt x="16585310" y="3508652"/>
                  </a:lnTo>
                  <a:lnTo>
                    <a:pt x="0" y="3508652"/>
                  </a:lnTo>
                  <a:close/>
                </a:path>
              </a:pathLst>
            </a:custGeom>
            <a:solidFill>
              <a:srgbClr val="000000">
                <a:alpha val="0"/>
              </a:srgbClr>
            </a:solidFill>
          </p:spPr>
        </p:sp>
        <p:sp>
          <p:nvSpPr>
            <p:cNvPr name="TextBox 40" id="40"/>
            <p:cNvSpPr txBox="true"/>
            <p:nvPr/>
          </p:nvSpPr>
          <p:spPr>
            <a:xfrm>
              <a:off x="0" y="-19050"/>
              <a:ext cx="16585310" cy="3527702"/>
            </a:xfrm>
            <a:prstGeom prst="rect">
              <a:avLst/>
            </a:prstGeom>
          </p:spPr>
          <p:txBody>
            <a:bodyPr anchor="ctr" rtlCol="false" tIns="0" lIns="0" bIns="0" rIns="0"/>
            <a:lstStyle/>
            <a:p>
              <a:pPr algn="l" marL="488632" indent="-244316" lvl="1">
                <a:lnSpc>
                  <a:spcPts val="3240"/>
                </a:lnSpc>
                <a:buFont typeface="Arial"/>
                <a:buChar char="•"/>
              </a:pPr>
              <a:r>
                <a:rPr lang="en-US" sz="2700">
                  <a:solidFill>
                    <a:srgbClr val="000000"/>
                  </a:solidFill>
                  <a:latin typeface="Arial"/>
                  <a:ea typeface="Arial"/>
                  <a:cs typeface="Arial"/>
                  <a:sym typeface="Arial"/>
                </a:rPr>
                <a:t>Netflix Management and Strategy Team</a:t>
              </a:r>
            </a:p>
            <a:p>
              <a:pPr algn="l" marL="488632" indent="-244316" lvl="1">
                <a:lnSpc>
                  <a:spcPts val="3240"/>
                </a:lnSpc>
                <a:buFont typeface="Arial"/>
                <a:buChar char="•"/>
              </a:pPr>
              <a:r>
                <a:rPr lang="en-US" sz="2700">
                  <a:solidFill>
                    <a:srgbClr val="000000"/>
                  </a:solidFill>
                  <a:latin typeface="Arial"/>
                  <a:ea typeface="Arial"/>
                  <a:cs typeface="Arial"/>
                  <a:sym typeface="Arial"/>
                </a:rPr>
                <a:t>Netflix Content and Production Teams</a:t>
              </a:r>
            </a:p>
            <a:p>
              <a:pPr algn="l" marL="488632" indent="-244316" lvl="1">
                <a:lnSpc>
                  <a:spcPts val="3240"/>
                </a:lnSpc>
                <a:buFont typeface="Arial"/>
                <a:buChar char="•"/>
              </a:pPr>
              <a:r>
                <a:rPr lang="en-US" sz="2700">
                  <a:solidFill>
                    <a:srgbClr val="000000"/>
                  </a:solidFill>
                  <a:latin typeface="Arial"/>
                  <a:ea typeface="Arial"/>
                  <a:cs typeface="Arial"/>
                  <a:sym typeface="Arial"/>
                </a:rPr>
                <a:t>Netflix Data Analytics and Insights Department</a:t>
              </a:r>
            </a:p>
            <a:p>
              <a:pPr algn="l" marL="488632" indent="-244316" lvl="1">
                <a:lnSpc>
                  <a:spcPts val="3240"/>
                </a:lnSpc>
                <a:buFont typeface="Arial"/>
                <a:buChar char="•"/>
              </a:pPr>
              <a:r>
                <a:rPr lang="en-US" sz="2700">
                  <a:solidFill>
                    <a:srgbClr val="000000"/>
                  </a:solidFill>
                  <a:latin typeface="Arial"/>
                  <a:ea typeface="Arial"/>
                  <a:cs typeface="Arial"/>
                  <a:sym typeface="Arial"/>
                </a:rPr>
                <a:t>Data Analysts and Data Scientists (in the OTT or media industry)</a:t>
              </a:r>
            </a:p>
            <a:p>
              <a:pPr algn="l" marL="488632" indent="-244316" lvl="1">
                <a:lnSpc>
                  <a:spcPts val="3240"/>
                </a:lnSpc>
                <a:buFont typeface="Arial"/>
                <a:buChar char="•"/>
              </a:pPr>
              <a:r>
                <a:rPr lang="en-US" sz="2700">
                  <a:solidFill>
                    <a:srgbClr val="000000"/>
                  </a:solidFill>
                  <a:latin typeface="Arial"/>
                  <a:ea typeface="Arial"/>
                  <a:cs typeface="Arial"/>
                  <a:sym typeface="Arial"/>
                </a:rPr>
                <a:t>Academic Researchers and Students (studying data analytics or media trends)</a:t>
              </a:r>
            </a:p>
            <a:p>
              <a:pPr algn="l" marL="488632" indent="-244316" lvl="1">
                <a:lnSpc>
                  <a:spcPts val="3240"/>
                </a:lnSpc>
                <a:buFont typeface="Arial"/>
                <a:buChar char="•"/>
              </a:pPr>
              <a:r>
                <a:rPr lang="en-US" sz="2700">
                  <a:solidFill>
                    <a:srgbClr val="000000"/>
                  </a:solidFill>
                  <a:latin typeface="Arial"/>
                  <a:ea typeface="Arial"/>
                  <a:cs typeface="Arial"/>
                  <a:sym typeface="Arial"/>
                </a:rPr>
                <a:t>Business Analysts and Market Researchers</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10/15/2025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1044238" y="664894"/>
            <a:ext cx="542925" cy="542925"/>
            <a:chOff x="0" y="0"/>
            <a:chExt cx="723900" cy="723900"/>
          </a:xfrm>
        </p:grpSpPr>
        <p:sp>
          <p:nvSpPr>
            <p:cNvPr name="Freeform 30" id="30"/>
            <p:cNvSpPr/>
            <p:nvPr/>
          </p:nvSpPr>
          <p:spPr>
            <a:xfrm flipH="false" flipV="false" rot="0">
              <a:off x="0" y="0"/>
              <a:ext cx="723900" cy="723900"/>
            </a:xfrm>
            <a:custGeom>
              <a:avLst/>
              <a:gdLst/>
              <a:ahLst/>
              <a:cxnLst/>
              <a:rect r="r" b="b" t="t" l="l"/>
              <a:pathLst>
                <a:path h="723900" w="723900">
                  <a:moveTo>
                    <a:pt x="0" y="361950"/>
                  </a:moveTo>
                  <a:cubicBezTo>
                    <a:pt x="0" y="162052"/>
                    <a:pt x="162052" y="0"/>
                    <a:pt x="361950" y="0"/>
                  </a:cubicBezTo>
                  <a:cubicBezTo>
                    <a:pt x="561848" y="0"/>
                    <a:pt x="723900" y="162052"/>
                    <a:pt x="723900" y="361950"/>
                  </a:cubicBezTo>
                  <a:cubicBezTo>
                    <a:pt x="723900" y="561848"/>
                    <a:pt x="561848" y="723900"/>
                    <a:pt x="361950" y="723900"/>
                  </a:cubicBezTo>
                  <a:cubicBezTo>
                    <a:pt x="162052" y="723900"/>
                    <a:pt x="0" y="561848"/>
                    <a:pt x="0" y="361950"/>
                  </a:cubicBezTo>
                  <a:close/>
                </a:path>
              </a:pathLst>
            </a:custGeom>
            <a:solidFill>
              <a:srgbClr val="EBEBEB"/>
            </a:solidFill>
          </p:spPr>
        </p:sp>
      </p:grpSp>
      <p:grpSp>
        <p:nvGrpSpPr>
          <p:cNvPr name="Group 31" id="31"/>
          <p:cNvGrpSpPr/>
          <p:nvPr/>
        </p:nvGrpSpPr>
        <p:grpSpPr>
          <a:xfrm rot="0">
            <a:off x="16510869" y="8408991"/>
            <a:ext cx="981340" cy="981340"/>
            <a:chOff x="0" y="0"/>
            <a:chExt cx="1308454" cy="1308454"/>
          </a:xfrm>
        </p:grpSpPr>
        <p:sp>
          <p:nvSpPr>
            <p:cNvPr name="Freeform 32" id="32"/>
            <p:cNvSpPr/>
            <p:nvPr/>
          </p:nvSpPr>
          <p:spPr>
            <a:xfrm flipH="false" flipV="false" rot="0">
              <a:off x="0" y="0"/>
              <a:ext cx="1308354" cy="1308354"/>
            </a:xfrm>
            <a:custGeom>
              <a:avLst/>
              <a:gdLst/>
              <a:ahLst/>
              <a:cxnLst/>
              <a:rect r="r" b="b" t="t" l="l"/>
              <a:pathLst>
                <a:path h="1308354" w="1308354">
                  <a:moveTo>
                    <a:pt x="0" y="654177"/>
                  </a:moveTo>
                  <a:cubicBezTo>
                    <a:pt x="0" y="292862"/>
                    <a:pt x="292862" y="0"/>
                    <a:pt x="654177" y="0"/>
                  </a:cubicBezTo>
                  <a:cubicBezTo>
                    <a:pt x="1015492" y="0"/>
                    <a:pt x="1308354" y="292862"/>
                    <a:pt x="1308354" y="654177"/>
                  </a:cubicBezTo>
                  <a:cubicBezTo>
                    <a:pt x="1308354" y="1015492"/>
                    <a:pt x="1015492" y="1308354"/>
                    <a:pt x="654177" y="1308354"/>
                  </a:cubicBezTo>
                  <a:cubicBezTo>
                    <a:pt x="292862" y="1308354"/>
                    <a:pt x="0" y="1015492"/>
                    <a:pt x="0" y="654177"/>
                  </a:cubicBezTo>
                  <a:close/>
                </a:path>
              </a:pathLst>
            </a:custGeom>
            <a:solidFill>
              <a:srgbClr val="2E83C3"/>
            </a:solidFill>
          </p:spPr>
        </p:sp>
      </p:grpSp>
      <p:grpSp>
        <p:nvGrpSpPr>
          <p:cNvPr name="Group 33" id="33"/>
          <p:cNvGrpSpPr/>
          <p:nvPr/>
        </p:nvGrpSpPr>
        <p:grpSpPr>
          <a:xfrm rot="0">
            <a:off x="16025686" y="9198658"/>
            <a:ext cx="376728" cy="376728"/>
            <a:chOff x="0" y="0"/>
            <a:chExt cx="502304" cy="502304"/>
          </a:xfrm>
        </p:grpSpPr>
        <p:sp>
          <p:nvSpPr>
            <p:cNvPr name="Freeform 34" id="34"/>
            <p:cNvSpPr/>
            <p:nvPr/>
          </p:nvSpPr>
          <p:spPr>
            <a:xfrm flipH="false" flipV="false" rot="0">
              <a:off x="0" y="0"/>
              <a:ext cx="502285" cy="502285"/>
            </a:xfrm>
            <a:custGeom>
              <a:avLst/>
              <a:gdLst/>
              <a:ahLst/>
              <a:cxnLst/>
              <a:rect r="r" b="b" t="t" l="l"/>
              <a:pathLst>
                <a:path h="502285" w="502285">
                  <a:moveTo>
                    <a:pt x="0" y="251206"/>
                  </a:moveTo>
                  <a:cubicBezTo>
                    <a:pt x="0" y="112395"/>
                    <a:pt x="112395" y="0"/>
                    <a:pt x="251206" y="0"/>
                  </a:cubicBezTo>
                  <a:cubicBezTo>
                    <a:pt x="390017" y="0"/>
                    <a:pt x="502285" y="112395"/>
                    <a:pt x="502285" y="251206"/>
                  </a:cubicBezTo>
                  <a:cubicBezTo>
                    <a:pt x="502285" y="390017"/>
                    <a:pt x="389890" y="502285"/>
                    <a:pt x="251206" y="502285"/>
                  </a:cubicBezTo>
                  <a:cubicBezTo>
                    <a:pt x="112522" y="502285"/>
                    <a:pt x="0" y="389890"/>
                    <a:pt x="0" y="251206"/>
                  </a:cubicBezTo>
                  <a:close/>
                </a:path>
              </a:pathLst>
            </a:custGeom>
            <a:solidFill>
              <a:srgbClr val="2E946B"/>
            </a:solidFill>
          </p:spPr>
        </p:sp>
      </p:grpSp>
      <p:grpSp>
        <p:nvGrpSpPr>
          <p:cNvPr name="Group 35" id="35"/>
          <p:cNvGrpSpPr>
            <a:grpSpLocks noChangeAspect="true"/>
          </p:cNvGrpSpPr>
          <p:nvPr/>
        </p:nvGrpSpPr>
        <p:grpSpPr>
          <a:xfrm rot="0">
            <a:off x="701038" y="9615692"/>
            <a:ext cx="5559380" cy="444138"/>
            <a:chOff x="0" y="0"/>
            <a:chExt cx="7412506" cy="592184"/>
          </a:xfrm>
        </p:grpSpPr>
        <p:sp>
          <p:nvSpPr>
            <p:cNvPr name="Freeform 36" id="36"/>
            <p:cNvSpPr/>
            <p:nvPr/>
          </p:nvSpPr>
          <p:spPr>
            <a:xfrm flipH="false" flipV="false" rot="0">
              <a:off x="0" y="0"/>
              <a:ext cx="7412482" cy="592201"/>
            </a:xfrm>
            <a:custGeom>
              <a:avLst/>
              <a:gdLst/>
              <a:ahLst/>
              <a:cxnLst/>
              <a:rect r="r" b="b" t="t" l="l"/>
              <a:pathLst>
                <a:path h="592201" w="7412482">
                  <a:moveTo>
                    <a:pt x="0" y="0"/>
                  </a:moveTo>
                  <a:lnTo>
                    <a:pt x="7412482" y="0"/>
                  </a:lnTo>
                  <a:lnTo>
                    <a:pt x="7412482" y="592201"/>
                  </a:lnTo>
                  <a:lnTo>
                    <a:pt x="0" y="592201"/>
                  </a:lnTo>
                  <a:lnTo>
                    <a:pt x="0" y="0"/>
                  </a:lnTo>
                  <a:close/>
                </a:path>
              </a:pathLst>
            </a:custGeom>
            <a:blipFill>
              <a:blip r:embed="rId3"/>
              <a:stretch>
                <a:fillRect l="0" t="0" r="0" b="2"/>
              </a:stretch>
            </a:blipFill>
          </p:spPr>
        </p:sp>
      </p:grpSp>
      <p:grpSp>
        <p:nvGrpSpPr>
          <p:cNvPr name="Group 37" id="37"/>
          <p:cNvGrpSpPr>
            <a:grpSpLocks noChangeAspect="true"/>
          </p:cNvGrpSpPr>
          <p:nvPr/>
        </p:nvGrpSpPr>
        <p:grpSpPr>
          <a:xfrm rot="0">
            <a:off x="76200" y="5730240"/>
            <a:ext cx="2590800" cy="4515036"/>
            <a:chOff x="0" y="0"/>
            <a:chExt cx="3454400" cy="6020048"/>
          </a:xfrm>
        </p:grpSpPr>
        <p:sp>
          <p:nvSpPr>
            <p:cNvPr name="Freeform 38" id="38"/>
            <p:cNvSpPr/>
            <p:nvPr/>
          </p:nvSpPr>
          <p:spPr>
            <a:xfrm flipH="true" flipV="false" rot="0">
              <a:off x="0" y="0"/>
              <a:ext cx="3454400" cy="6020054"/>
            </a:xfrm>
            <a:custGeom>
              <a:avLst/>
              <a:gdLst/>
              <a:ahLst/>
              <a:cxnLst/>
              <a:rect r="r" b="b" t="t" l="l"/>
              <a:pathLst>
                <a:path h="6020054" w="3454400">
                  <a:moveTo>
                    <a:pt x="3454400" y="0"/>
                  </a:moveTo>
                  <a:lnTo>
                    <a:pt x="0" y="0"/>
                  </a:lnTo>
                  <a:lnTo>
                    <a:pt x="0" y="6020054"/>
                  </a:lnTo>
                  <a:lnTo>
                    <a:pt x="3454400" y="6020054"/>
                  </a:lnTo>
                  <a:lnTo>
                    <a:pt x="3454400" y="0"/>
                  </a:lnTo>
                  <a:close/>
                </a:path>
              </a:pathLst>
            </a:custGeom>
            <a:blipFill>
              <a:blip r:embed="rId4"/>
              <a:stretch>
                <a:fillRect l="-5923" t="0" r="-5923" b="0"/>
              </a:stretch>
            </a:blipFill>
          </p:spPr>
        </p:sp>
      </p:grpSp>
      <p:sp>
        <p:nvSpPr>
          <p:cNvPr name="TextBox 39" id="39"/>
          <p:cNvSpPr txBox="true"/>
          <p:nvPr/>
        </p:nvSpPr>
        <p:spPr>
          <a:xfrm rot="0">
            <a:off x="679269" y="1735187"/>
            <a:ext cx="13358673" cy="7954707"/>
          </a:xfrm>
          <a:prstGeom prst="rect">
            <a:avLst/>
          </a:prstGeom>
        </p:spPr>
        <p:txBody>
          <a:bodyPr anchor="t" rtlCol="false" tIns="0" lIns="0" bIns="0" rIns="0">
            <a:spAutoFit/>
          </a:bodyPr>
          <a:lstStyle/>
          <a:p>
            <a:pPr algn="l" marL="1228725" indent="-409575" lvl="2">
              <a:lnSpc>
                <a:spcPts val="5400"/>
              </a:lnSpc>
              <a:buFont typeface="Arial"/>
              <a:buChar char="⚬"/>
            </a:pPr>
            <a:r>
              <a:rPr lang="en-US" sz="3000">
                <a:solidFill>
                  <a:srgbClr val="404040"/>
                </a:solidFill>
                <a:latin typeface="Trebuchet MS"/>
                <a:ea typeface="Trebuchet MS"/>
                <a:cs typeface="Trebuchet MS"/>
                <a:sym typeface="Trebuchet MS"/>
              </a:rPr>
              <a:t>Python</a:t>
            </a:r>
          </a:p>
          <a:p>
            <a:pPr algn="l" marL="1228725" indent="-409575" lvl="2">
              <a:lnSpc>
                <a:spcPts val="5400"/>
              </a:lnSpc>
              <a:buFont typeface="Arial"/>
              <a:buChar char="⚬"/>
            </a:pPr>
            <a:r>
              <a:rPr lang="en-US" sz="3000">
                <a:solidFill>
                  <a:srgbClr val="404040"/>
                </a:solidFill>
                <a:latin typeface="Trebuchet MS"/>
                <a:ea typeface="Trebuchet MS"/>
                <a:cs typeface="Trebuchet MS"/>
                <a:sym typeface="Trebuchet MS"/>
              </a:rPr>
              <a:t>Jupyter Notebook</a:t>
            </a:r>
          </a:p>
          <a:p>
            <a:pPr algn="l" marL="1228725" indent="-409575" lvl="2">
              <a:lnSpc>
                <a:spcPts val="5400"/>
              </a:lnSpc>
              <a:buFont typeface="Arial"/>
              <a:buChar char="⚬"/>
            </a:pPr>
            <a:r>
              <a:rPr lang="en-US" sz="3000">
                <a:solidFill>
                  <a:srgbClr val="404040"/>
                </a:solidFill>
                <a:latin typeface="Trebuchet MS"/>
                <a:ea typeface="Trebuchet MS"/>
                <a:cs typeface="Trebuchet MS"/>
                <a:sym typeface="Trebuchet MS"/>
              </a:rPr>
              <a:t>Google colab</a:t>
            </a:r>
          </a:p>
          <a:p>
            <a:pPr algn="l" marL="1228725" indent="-409575" lvl="2">
              <a:lnSpc>
                <a:spcPts val="5400"/>
              </a:lnSpc>
              <a:buFont typeface="Arial"/>
              <a:buChar char="⚬"/>
            </a:pPr>
            <a:r>
              <a:rPr lang="en-US" sz="3000">
                <a:solidFill>
                  <a:srgbClr val="404040"/>
                </a:solidFill>
                <a:latin typeface="Trebuchet MS"/>
                <a:ea typeface="Trebuchet MS"/>
                <a:cs typeface="Trebuchet MS"/>
                <a:sym typeface="Trebuchet MS"/>
              </a:rPr>
              <a:t>Matplotlib</a:t>
            </a:r>
          </a:p>
          <a:p>
            <a:pPr algn="l" marL="1228725" indent="-409575" lvl="2">
              <a:lnSpc>
                <a:spcPts val="5400"/>
              </a:lnSpc>
              <a:buFont typeface="Arial"/>
              <a:buChar char="⚬"/>
            </a:pPr>
            <a:r>
              <a:rPr lang="en-US" sz="3000">
                <a:solidFill>
                  <a:srgbClr val="404040"/>
                </a:solidFill>
                <a:latin typeface="Trebuchet MS"/>
                <a:ea typeface="Trebuchet MS"/>
                <a:cs typeface="Trebuchet MS"/>
                <a:sym typeface="Trebuchet MS"/>
              </a:rPr>
              <a:t>numpy</a:t>
            </a:r>
          </a:p>
        </p:txBody>
      </p:sp>
      <p:sp>
        <p:nvSpPr>
          <p:cNvPr name="TextBox 40" id="40"/>
          <p:cNvSpPr txBox="true"/>
          <p:nvPr/>
        </p:nvSpPr>
        <p:spPr>
          <a:xfrm rot="0">
            <a:off x="1082038" y="672520"/>
            <a:ext cx="7776557" cy="1199336"/>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Technology Used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10/15/2025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6" y="804598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6" y="2549833"/>
            <a:ext cx="479624" cy="479623"/>
            <a:chOff x="0" y="0"/>
            <a:chExt cx="639498" cy="639498"/>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6" y="8846607"/>
            <a:ext cx="269965" cy="269966"/>
            <a:chOff x="0" y="0"/>
            <a:chExt cx="359954" cy="359954"/>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a:grpSpLocks noChangeAspect="true"/>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2"/>
              <a:stretch>
                <a:fillRect l="0" t="-2518486" r="-135857" b="0"/>
              </a:stretch>
            </a:blipFill>
          </p:spPr>
        </p:sp>
      </p:grpSp>
      <p:sp>
        <p:nvSpPr>
          <p:cNvPr name="Freeform 37" id="37"/>
          <p:cNvSpPr/>
          <p:nvPr/>
        </p:nvSpPr>
        <p:spPr>
          <a:xfrm flipH="false" flipV="false" rot="0">
            <a:off x="2600702" y="1863117"/>
            <a:ext cx="13807796" cy="7738304"/>
          </a:xfrm>
          <a:custGeom>
            <a:avLst/>
            <a:gdLst/>
            <a:ahLst/>
            <a:cxnLst/>
            <a:rect r="r" b="b" t="t" l="l"/>
            <a:pathLst>
              <a:path h="7738304" w="13807796">
                <a:moveTo>
                  <a:pt x="0" y="0"/>
                </a:moveTo>
                <a:lnTo>
                  <a:pt x="13807797" y="0"/>
                </a:lnTo>
                <a:lnTo>
                  <a:pt x="13807797" y="7738305"/>
                </a:lnTo>
                <a:lnTo>
                  <a:pt x="0" y="7738305"/>
                </a:lnTo>
                <a:lnTo>
                  <a:pt x="0" y="0"/>
                </a:lnTo>
                <a:close/>
              </a:path>
            </a:pathLst>
          </a:custGeom>
          <a:blipFill>
            <a:blip r:embed="rId3"/>
            <a:stretch>
              <a:fillRect l="0" t="0" r="-2308" b="0"/>
            </a:stretch>
          </a:blipFill>
          <a:ln w="57150" cap="sq">
            <a:solidFill>
              <a:srgbClr val="000000"/>
            </a:solidFill>
            <a:prstDash val="solid"/>
            <a:miter/>
          </a:ln>
        </p:spPr>
      </p:sp>
      <p:sp>
        <p:nvSpPr>
          <p:cNvPr name="TextBox 38" id="38"/>
          <p:cNvSpPr txBox="true"/>
          <p:nvPr/>
        </p:nvSpPr>
        <p:spPr>
          <a:xfrm rot="0">
            <a:off x="1105376" y="582554"/>
            <a:ext cx="4289584" cy="1174106"/>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RESULTS1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10/15/2025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6" y="804598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6" y="2549833"/>
            <a:ext cx="479624" cy="479623"/>
            <a:chOff x="0" y="0"/>
            <a:chExt cx="639498" cy="639498"/>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6" y="8846607"/>
            <a:ext cx="269965" cy="269966"/>
            <a:chOff x="0" y="0"/>
            <a:chExt cx="359954" cy="359954"/>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a:grpSpLocks noChangeAspect="true"/>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2"/>
              <a:stretch>
                <a:fillRect l="0" t="-2518486" r="-135857" b="0"/>
              </a:stretch>
            </a:blipFill>
          </p:spPr>
        </p:sp>
      </p:grpSp>
      <p:sp>
        <p:nvSpPr>
          <p:cNvPr name="Freeform 37" id="37"/>
          <p:cNvSpPr/>
          <p:nvPr/>
        </p:nvSpPr>
        <p:spPr>
          <a:xfrm flipH="false" flipV="false" rot="0">
            <a:off x="1432034" y="2317832"/>
            <a:ext cx="13366530" cy="7250528"/>
          </a:xfrm>
          <a:custGeom>
            <a:avLst/>
            <a:gdLst/>
            <a:ahLst/>
            <a:cxnLst/>
            <a:rect r="r" b="b" t="t" l="l"/>
            <a:pathLst>
              <a:path h="7250528" w="13366530">
                <a:moveTo>
                  <a:pt x="0" y="0"/>
                </a:moveTo>
                <a:lnTo>
                  <a:pt x="13366530" y="0"/>
                </a:lnTo>
                <a:lnTo>
                  <a:pt x="13366530" y="7250527"/>
                </a:lnTo>
                <a:lnTo>
                  <a:pt x="0" y="7250527"/>
                </a:lnTo>
                <a:lnTo>
                  <a:pt x="0" y="0"/>
                </a:lnTo>
                <a:close/>
              </a:path>
            </a:pathLst>
          </a:custGeom>
          <a:blipFill>
            <a:blip r:embed="rId3"/>
            <a:stretch>
              <a:fillRect l="0" t="0" r="0" b="0"/>
            </a:stretch>
          </a:blipFill>
          <a:ln w="57150" cap="sq">
            <a:solidFill>
              <a:srgbClr val="000000"/>
            </a:solidFill>
            <a:prstDash val="solid"/>
            <a:miter/>
          </a:ln>
        </p:spPr>
      </p:sp>
      <p:sp>
        <p:nvSpPr>
          <p:cNvPr name="TextBox 38" id="38"/>
          <p:cNvSpPr txBox="true"/>
          <p:nvPr/>
        </p:nvSpPr>
        <p:spPr>
          <a:xfrm rot="0">
            <a:off x="1105376" y="582554"/>
            <a:ext cx="4289584" cy="1174106"/>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RESULTS2</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10/15/2025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6" y="804598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6" y="2549833"/>
            <a:ext cx="479624" cy="479623"/>
            <a:chOff x="0" y="0"/>
            <a:chExt cx="639498" cy="639498"/>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6" y="8846607"/>
            <a:ext cx="269965" cy="269966"/>
            <a:chOff x="0" y="0"/>
            <a:chExt cx="359954" cy="359954"/>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a:grpSpLocks noChangeAspect="true"/>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2"/>
              <a:stretch>
                <a:fillRect l="0" t="-2518486" r="-135857" b="0"/>
              </a:stretch>
            </a:blipFill>
          </p:spPr>
        </p:sp>
      </p:grpSp>
      <p:sp>
        <p:nvSpPr>
          <p:cNvPr name="Freeform 37" id="37"/>
          <p:cNvSpPr/>
          <p:nvPr/>
        </p:nvSpPr>
        <p:spPr>
          <a:xfrm flipH="false" flipV="false" rot="0">
            <a:off x="3250168" y="1955473"/>
            <a:ext cx="11732597" cy="7302827"/>
          </a:xfrm>
          <a:custGeom>
            <a:avLst/>
            <a:gdLst/>
            <a:ahLst/>
            <a:cxnLst/>
            <a:rect r="r" b="b" t="t" l="l"/>
            <a:pathLst>
              <a:path h="7302827" w="11732597">
                <a:moveTo>
                  <a:pt x="0" y="0"/>
                </a:moveTo>
                <a:lnTo>
                  <a:pt x="11732597" y="0"/>
                </a:lnTo>
                <a:lnTo>
                  <a:pt x="11732597" y="7302827"/>
                </a:lnTo>
                <a:lnTo>
                  <a:pt x="0" y="7302827"/>
                </a:lnTo>
                <a:lnTo>
                  <a:pt x="0" y="0"/>
                </a:lnTo>
                <a:close/>
              </a:path>
            </a:pathLst>
          </a:custGeom>
          <a:blipFill>
            <a:blip r:embed="rId3"/>
            <a:stretch>
              <a:fillRect l="0" t="0" r="0" b="0"/>
            </a:stretch>
          </a:blipFill>
          <a:ln w="38100" cap="sq">
            <a:solidFill>
              <a:srgbClr val="000000"/>
            </a:solidFill>
            <a:prstDash val="solid"/>
            <a:miter/>
          </a:ln>
        </p:spPr>
      </p:sp>
      <p:sp>
        <p:nvSpPr>
          <p:cNvPr name="TextBox 38" id="38"/>
          <p:cNvSpPr txBox="true"/>
          <p:nvPr/>
        </p:nvSpPr>
        <p:spPr>
          <a:xfrm rot="0">
            <a:off x="1105376" y="582554"/>
            <a:ext cx="4289584" cy="1174106"/>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RESULTS3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10/15/2025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6" y="804598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6" y="2549833"/>
            <a:ext cx="479624" cy="479623"/>
            <a:chOff x="0" y="0"/>
            <a:chExt cx="639498" cy="639498"/>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6" y="8846607"/>
            <a:ext cx="269965" cy="269966"/>
            <a:chOff x="0" y="0"/>
            <a:chExt cx="359954" cy="359954"/>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a:grpSpLocks noChangeAspect="true"/>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2"/>
              <a:stretch>
                <a:fillRect l="0" t="-2518486" r="-135857" b="0"/>
              </a:stretch>
            </a:blipFill>
          </p:spPr>
        </p:sp>
      </p:grpSp>
      <p:sp>
        <p:nvSpPr>
          <p:cNvPr name="Freeform 37" id="37"/>
          <p:cNvSpPr/>
          <p:nvPr/>
        </p:nvSpPr>
        <p:spPr>
          <a:xfrm flipH="false" flipV="false" rot="0">
            <a:off x="673100" y="1852206"/>
            <a:ext cx="7395787" cy="7989997"/>
          </a:xfrm>
          <a:custGeom>
            <a:avLst/>
            <a:gdLst/>
            <a:ahLst/>
            <a:cxnLst/>
            <a:rect r="r" b="b" t="t" l="l"/>
            <a:pathLst>
              <a:path h="7989997" w="7395787">
                <a:moveTo>
                  <a:pt x="0" y="0"/>
                </a:moveTo>
                <a:lnTo>
                  <a:pt x="7395787" y="0"/>
                </a:lnTo>
                <a:lnTo>
                  <a:pt x="7395787" y="7989997"/>
                </a:lnTo>
                <a:lnTo>
                  <a:pt x="0" y="7989997"/>
                </a:lnTo>
                <a:lnTo>
                  <a:pt x="0" y="0"/>
                </a:lnTo>
                <a:close/>
              </a:path>
            </a:pathLst>
          </a:custGeom>
          <a:blipFill>
            <a:blip r:embed="rId3"/>
            <a:stretch>
              <a:fillRect l="0" t="0" r="0" b="0"/>
            </a:stretch>
          </a:blipFill>
          <a:ln w="38100" cap="sq">
            <a:solidFill>
              <a:srgbClr val="000000"/>
            </a:solidFill>
            <a:prstDash val="solid"/>
            <a:miter/>
          </a:ln>
        </p:spPr>
      </p:sp>
      <p:sp>
        <p:nvSpPr>
          <p:cNvPr name="Freeform 38" id="38"/>
          <p:cNvSpPr/>
          <p:nvPr/>
        </p:nvSpPr>
        <p:spPr>
          <a:xfrm flipH="false" flipV="false" rot="0">
            <a:off x="8472517" y="2549833"/>
            <a:ext cx="9470979" cy="4466382"/>
          </a:xfrm>
          <a:custGeom>
            <a:avLst/>
            <a:gdLst/>
            <a:ahLst/>
            <a:cxnLst/>
            <a:rect r="r" b="b" t="t" l="l"/>
            <a:pathLst>
              <a:path h="4466382" w="9470979">
                <a:moveTo>
                  <a:pt x="0" y="0"/>
                </a:moveTo>
                <a:lnTo>
                  <a:pt x="9470980" y="0"/>
                </a:lnTo>
                <a:lnTo>
                  <a:pt x="9470980" y="4466382"/>
                </a:lnTo>
                <a:lnTo>
                  <a:pt x="0" y="4466382"/>
                </a:lnTo>
                <a:lnTo>
                  <a:pt x="0" y="0"/>
                </a:lnTo>
                <a:close/>
              </a:path>
            </a:pathLst>
          </a:custGeom>
          <a:blipFill>
            <a:blip r:embed="rId4"/>
            <a:stretch>
              <a:fillRect l="0" t="0" r="0" b="0"/>
            </a:stretch>
          </a:blipFill>
          <a:ln w="38100" cap="sq">
            <a:solidFill>
              <a:srgbClr val="000000"/>
            </a:solidFill>
            <a:prstDash val="solid"/>
            <a:miter/>
          </a:ln>
        </p:spPr>
      </p:sp>
      <p:sp>
        <p:nvSpPr>
          <p:cNvPr name="TextBox 39" id="39"/>
          <p:cNvSpPr txBox="true"/>
          <p:nvPr/>
        </p:nvSpPr>
        <p:spPr>
          <a:xfrm rot="0">
            <a:off x="673100" y="325998"/>
            <a:ext cx="7216540" cy="1395880"/>
          </a:xfrm>
          <a:prstGeom prst="rect">
            <a:avLst/>
          </a:prstGeom>
        </p:spPr>
        <p:txBody>
          <a:bodyPr anchor="t" rtlCol="false" tIns="0" lIns="0" bIns="0" rIns="0">
            <a:spAutoFit/>
          </a:bodyPr>
          <a:lstStyle/>
          <a:p>
            <a:pPr algn="l">
              <a:lnSpc>
                <a:spcPts val="10935"/>
              </a:lnSpc>
            </a:pPr>
            <a:r>
              <a:rPr lang="en-US" sz="9112" b="true">
                <a:solidFill>
                  <a:srgbClr val="000000"/>
                </a:solidFill>
                <a:latin typeface="Trebuchet MS Bold"/>
                <a:ea typeface="Trebuchet MS Bold"/>
                <a:cs typeface="Trebuchet MS Bold"/>
                <a:sym typeface="Trebuchet MS Bold"/>
              </a:rPr>
              <a:t>RESULTS 4</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10/15/2025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6" y="804598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6" y="2549833"/>
            <a:ext cx="479624" cy="479623"/>
            <a:chOff x="0" y="0"/>
            <a:chExt cx="639498" cy="639498"/>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6" y="8846607"/>
            <a:ext cx="269965" cy="269966"/>
            <a:chOff x="0" y="0"/>
            <a:chExt cx="359954" cy="359954"/>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a:grpSpLocks noChangeAspect="true"/>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2"/>
              <a:stretch>
                <a:fillRect l="0" t="-2518486" r="-135857" b="0"/>
              </a:stretch>
            </a:blipFill>
          </p:spPr>
        </p:sp>
      </p:grpSp>
      <p:sp>
        <p:nvSpPr>
          <p:cNvPr name="TextBox 37" id="37"/>
          <p:cNvSpPr txBox="true"/>
          <p:nvPr/>
        </p:nvSpPr>
        <p:spPr>
          <a:xfrm rot="0">
            <a:off x="1105376" y="582554"/>
            <a:ext cx="8990172" cy="1245543"/>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GitHub repository </a:t>
            </a:r>
          </a:p>
        </p:txBody>
      </p:sp>
      <p:sp>
        <p:nvSpPr>
          <p:cNvPr name="TextBox 38" id="38"/>
          <p:cNvSpPr txBox="true"/>
          <p:nvPr/>
        </p:nvSpPr>
        <p:spPr>
          <a:xfrm rot="0">
            <a:off x="2084238" y="4518512"/>
            <a:ext cx="12217413" cy="882965"/>
          </a:xfrm>
          <a:prstGeom prst="rect">
            <a:avLst/>
          </a:prstGeom>
        </p:spPr>
        <p:txBody>
          <a:bodyPr anchor="t" rtlCol="false" tIns="0" lIns="0" bIns="0" rIns="0">
            <a:spAutoFit/>
          </a:bodyPr>
          <a:lstStyle/>
          <a:p>
            <a:pPr algn="l">
              <a:lnSpc>
                <a:spcPts val="3501"/>
              </a:lnSpc>
            </a:pPr>
            <a:r>
              <a:rPr lang="en-US" sz="2917" b="true">
                <a:solidFill>
                  <a:srgbClr val="404040"/>
                </a:solidFill>
                <a:latin typeface="Trebuchet MS Bold"/>
                <a:ea typeface="Trebuchet MS Bold"/>
                <a:cs typeface="Trebuchet MS Bold"/>
                <a:sym typeface="Trebuchet MS Bold"/>
              </a:rPr>
              <a:t>GitHub repository link</a:t>
            </a:r>
            <a:r>
              <a:rPr lang="en-US" sz="2917">
                <a:solidFill>
                  <a:srgbClr val="404040"/>
                </a:solidFill>
                <a:latin typeface="Trebuchet MS"/>
                <a:ea typeface="Trebuchet MS"/>
                <a:cs typeface="Trebuchet MS"/>
                <a:sym typeface="Trebuchet MS"/>
              </a:rPr>
              <a:t> -https://github.com/Abhishek-297/-VOIS_AICTE_Oct2025_MajorProject_Abhishek_T_L/</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10/15/2025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6" y="804598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6" y="2549833"/>
            <a:ext cx="479624" cy="479623"/>
            <a:chOff x="0" y="0"/>
            <a:chExt cx="639498" cy="639498"/>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6" y="8846607"/>
            <a:ext cx="269965" cy="269966"/>
            <a:chOff x="0" y="0"/>
            <a:chExt cx="359954" cy="359954"/>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a:grpSpLocks noChangeAspect="true"/>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2"/>
              <a:stretch>
                <a:fillRect l="0" t="-2518486" r="-135857" b="0"/>
              </a:stretch>
            </a:blipFill>
          </p:spPr>
        </p:sp>
      </p:grpSp>
      <p:sp>
        <p:nvSpPr>
          <p:cNvPr name="Freeform 37" id="37"/>
          <p:cNvSpPr/>
          <p:nvPr/>
        </p:nvSpPr>
        <p:spPr>
          <a:xfrm flipH="false" flipV="false" rot="0">
            <a:off x="3089492" y="1961266"/>
            <a:ext cx="11139273" cy="7880936"/>
          </a:xfrm>
          <a:custGeom>
            <a:avLst/>
            <a:gdLst/>
            <a:ahLst/>
            <a:cxnLst/>
            <a:rect r="r" b="b" t="t" l="l"/>
            <a:pathLst>
              <a:path h="7880936" w="11139273">
                <a:moveTo>
                  <a:pt x="0" y="0"/>
                </a:moveTo>
                <a:lnTo>
                  <a:pt x="11139273" y="0"/>
                </a:lnTo>
                <a:lnTo>
                  <a:pt x="11139273" y="7880937"/>
                </a:lnTo>
                <a:lnTo>
                  <a:pt x="0" y="7880937"/>
                </a:lnTo>
                <a:lnTo>
                  <a:pt x="0" y="0"/>
                </a:lnTo>
                <a:close/>
              </a:path>
            </a:pathLst>
          </a:custGeom>
          <a:blipFill>
            <a:blip r:embed="rId3"/>
            <a:stretch>
              <a:fillRect l="0" t="0" r="0" b="0"/>
            </a:stretch>
          </a:blipFill>
          <a:ln w="38100" cap="sq">
            <a:solidFill>
              <a:srgbClr val="000000"/>
            </a:solidFill>
            <a:prstDash val="solid"/>
            <a:miter/>
          </a:ln>
        </p:spPr>
      </p:sp>
      <p:sp>
        <p:nvSpPr>
          <p:cNvPr name="TextBox 38" id="38"/>
          <p:cNvSpPr txBox="true"/>
          <p:nvPr/>
        </p:nvSpPr>
        <p:spPr>
          <a:xfrm rot="0">
            <a:off x="321604" y="592080"/>
            <a:ext cx="16155219" cy="1275257"/>
          </a:xfrm>
          <a:prstGeom prst="rect">
            <a:avLst/>
          </a:prstGeom>
        </p:spPr>
        <p:txBody>
          <a:bodyPr anchor="t" rtlCol="false" tIns="0" lIns="0" bIns="0" rIns="0">
            <a:spAutoFit/>
          </a:bodyPr>
          <a:lstStyle/>
          <a:p>
            <a:pPr algn="l">
              <a:lnSpc>
                <a:spcPts val="6480"/>
              </a:lnSpc>
            </a:pPr>
            <a:r>
              <a:rPr lang="en-US" sz="5400" b="true">
                <a:solidFill>
                  <a:srgbClr val="000000"/>
                </a:solidFill>
                <a:latin typeface="Trebuchet MS Bold"/>
                <a:ea typeface="Trebuchet MS Bold"/>
                <a:cs typeface="Trebuchet MS Bold"/>
                <a:sym typeface="Trebuchet MS Bold"/>
              </a:rPr>
              <a:t>Getting started with Basics of Python Certificate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10/15/2025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6" y="804598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6" y="2549833"/>
            <a:ext cx="479624" cy="479623"/>
            <a:chOff x="0" y="0"/>
            <a:chExt cx="639498" cy="639498"/>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6" y="8846607"/>
            <a:ext cx="269965" cy="269966"/>
            <a:chOff x="0" y="0"/>
            <a:chExt cx="359954" cy="359954"/>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a:grpSpLocks noChangeAspect="true"/>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2"/>
              <a:stretch>
                <a:fillRect l="0" t="-2518486" r="-135857" b="0"/>
              </a:stretch>
            </a:blipFill>
          </p:spPr>
        </p:sp>
      </p:grpSp>
      <p:sp>
        <p:nvSpPr>
          <p:cNvPr name="Freeform 37" id="37"/>
          <p:cNvSpPr/>
          <p:nvPr/>
        </p:nvSpPr>
        <p:spPr>
          <a:xfrm flipH="false" flipV="false" rot="0">
            <a:off x="2675232" y="1981743"/>
            <a:ext cx="10723267" cy="7586616"/>
          </a:xfrm>
          <a:custGeom>
            <a:avLst/>
            <a:gdLst/>
            <a:ahLst/>
            <a:cxnLst/>
            <a:rect r="r" b="b" t="t" l="l"/>
            <a:pathLst>
              <a:path h="7586616" w="10723267">
                <a:moveTo>
                  <a:pt x="0" y="0"/>
                </a:moveTo>
                <a:lnTo>
                  <a:pt x="10723268" y="0"/>
                </a:lnTo>
                <a:lnTo>
                  <a:pt x="10723268" y="7586616"/>
                </a:lnTo>
                <a:lnTo>
                  <a:pt x="0" y="7586616"/>
                </a:lnTo>
                <a:lnTo>
                  <a:pt x="0" y="0"/>
                </a:lnTo>
                <a:close/>
              </a:path>
            </a:pathLst>
          </a:custGeom>
          <a:blipFill>
            <a:blip r:embed="rId3"/>
            <a:stretch>
              <a:fillRect l="0" t="0" r="0" b="0"/>
            </a:stretch>
          </a:blipFill>
          <a:ln w="38100" cap="sq">
            <a:solidFill>
              <a:srgbClr val="000000"/>
            </a:solidFill>
            <a:prstDash val="solid"/>
            <a:miter/>
          </a:ln>
        </p:spPr>
      </p:sp>
      <p:sp>
        <p:nvSpPr>
          <p:cNvPr name="TextBox 38" id="38"/>
          <p:cNvSpPr txBox="true"/>
          <p:nvPr/>
        </p:nvSpPr>
        <p:spPr>
          <a:xfrm rot="0">
            <a:off x="1105376" y="592079"/>
            <a:ext cx="16155219" cy="1275256"/>
          </a:xfrm>
          <a:prstGeom prst="rect">
            <a:avLst/>
          </a:prstGeom>
        </p:spPr>
        <p:txBody>
          <a:bodyPr anchor="t" rtlCol="false" tIns="0" lIns="0" bIns="0" rIns="0">
            <a:spAutoFit/>
          </a:bodyPr>
          <a:lstStyle/>
          <a:p>
            <a:pPr algn="l">
              <a:lnSpc>
                <a:spcPts val="6480"/>
              </a:lnSpc>
            </a:pPr>
            <a:r>
              <a:rPr lang="en-US" sz="5400" b="true">
                <a:solidFill>
                  <a:srgbClr val="000000"/>
                </a:solidFill>
                <a:latin typeface="Trebuchet MS Bold"/>
                <a:ea typeface="Trebuchet MS Bold"/>
                <a:cs typeface="Trebuchet MS Bold"/>
                <a:sym typeface="Trebuchet MS Bold"/>
              </a:rPr>
              <a:t>Data Visualization Certificate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10/15/2025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820004" y="5201332"/>
            <a:ext cx="687402" cy="592588"/>
            <a:chOff x="0" y="0"/>
            <a:chExt cx="916536" cy="790118"/>
          </a:xfrm>
        </p:grpSpPr>
        <p:sp>
          <p:nvSpPr>
            <p:cNvPr name="Freeform 30" id="30"/>
            <p:cNvSpPr/>
            <p:nvPr/>
          </p:nvSpPr>
          <p:spPr>
            <a:xfrm flipH="false" flipV="false" rot="0">
              <a:off x="0" y="0"/>
              <a:ext cx="916559" cy="790067"/>
            </a:xfrm>
            <a:custGeom>
              <a:avLst/>
              <a:gdLst/>
              <a:ahLst/>
              <a:cxnLst/>
              <a:rect r="r" b="b" t="t" l="l"/>
              <a:pathLst>
                <a:path h="790067" w="916559">
                  <a:moveTo>
                    <a:pt x="0" y="395097"/>
                  </a:moveTo>
                  <a:lnTo>
                    <a:pt x="197485" y="0"/>
                  </a:lnTo>
                  <a:lnTo>
                    <a:pt x="718947" y="0"/>
                  </a:lnTo>
                  <a:lnTo>
                    <a:pt x="916559" y="395097"/>
                  </a:lnTo>
                  <a:lnTo>
                    <a:pt x="718947" y="790067"/>
                  </a:lnTo>
                  <a:lnTo>
                    <a:pt x="197485" y="790067"/>
                  </a:lnTo>
                  <a:close/>
                </a:path>
              </a:pathLst>
            </a:custGeom>
            <a:solidFill>
              <a:srgbClr val="5FCBEF"/>
            </a:solidFill>
          </p:spPr>
        </p:sp>
      </p:grpSp>
      <p:grpSp>
        <p:nvGrpSpPr>
          <p:cNvPr name="Group 31" id="31"/>
          <p:cNvGrpSpPr/>
          <p:nvPr/>
        </p:nvGrpSpPr>
        <p:grpSpPr>
          <a:xfrm rot="0">
            <a:off x="16670005" y="3592083"/>
            <a:ext cx="537586" cy="463437"/>
            <a:chOff x="0" y="0"/>
            <a:chExt cx="716782" cy="617916"/>
          </a:xfrm>
        </p:grpSpPr>
        <p:sp>
          <p:nvSpPr>
            <p:cNvPr name="Freeform 32" id="32"/>
            <p:cNvSpPr/>
            <p:nvPr/>
          </p:nvSpPr>
          <p:spPr>
            <a:xfrm flipH="false" flipV="false" rot="0">
              <a:off x="0" y="0"/>
              <a:ext cx="716788" cy="617855"/>
            </a:xfrm>
            <a:custGeom>
              <a:avLst/>
              <a:gdLst/>
              <a:ahLst/>
              <a:cxnLst/>
              <a:rect r="r" b="b" t="t" l="l"/>
              <a:pathLst>
                <a:path h="617855" w="716788">
                  <a:moveTo>
                    <a:pt x="0" y="308991"/>
                  </a:moveTo>
                  <a:lnTo>
                    <a:pt x="154432" y="0"/>
                  </a:lnTo>
                  <a:lnTo>
                    <a:pt x="562356" y="0"/>
                  </a:lnTo>
                  <a:lnTo>
                    <a:pt x="716788" y="308991"/>
                  </a:lnTo>
                  <a:lnTo>
                    <a:pt x="562356" y="617855"/>
                  </a:lnTo>
                  <a:lnTo>
                    <a:pt x="154432" y="617855"/>
                  </a:lnTo>
                  <a:close/>
                </a:path>
              </a:pathLst>
            </a:custGeom>
            <a:solidFill>
              <a:srgbClr val="2E83C3"/>
            </a:solidFill>
          </p:spPr>
        </p:sp>
      </p:grpSp>
      <p:grpSp>
        <p:nvGrpSpPr>
          <p:cNvPr name="Group 33" id="33"/>
          <p:cNvGrpSpPr/>
          <p:nvPr/>
        </p:nvGrpSpPr>
        <p:grpSpPr>
          <a:xfrm rot="0">
            <a:off x="16323974" y="3303303"/>
            <a:ext cx="346032" cy="298304"/>
            <a:chOff x="0" y="0"/>
            <a:chExt cx="461376" cy="397738"/>
          </a:xfrm>
        </p:grpSpPr>
        <p:sp>
          <p:nvSpPr>
            <p:cNvPr name="Freeform 34" id="34"/>
            <p:cNvSpPr/>
            <p:nvPr/>
          </p:nvSpPr>
          <p:spPr>
            <a:xfrm flipH="false" flipV="false" rot="0">
              <a:off x="0" y="0"/>
              <a:ext cx="461391" cy="397764"/>
            </a:xfrm>
            <a:custGeom>
              <a:avLst/>
              <a:gdLst/>
              <a:ahLst/>
              <a:cxnLst/>
              <a:rect r="r" b="b" t="t" l="l"/>
              <a:pathLst>
                <a:path h="397764" w="461391">
                  <a:moveTo>
                    <a:pt x="0" y="198882"/>
                  </a:moveTo>
                  <a:lnTo>
                    <a:pt x="99441" y="0"/>
                  </a:lnTo>
                  <a:lnTo>
                    <a:pt x="361950" y="0"/>
                  </a:lnTo>
                  <a:lnTo>
                    <a:pt x="461391" y="198882"/>
                  </a:lnTo>
                  <a:lnTo>
                    <a:pt x="361950" y="397764"/>
                  </a:lnTo>
                  <a:lnTo>
                    <a:pt x="99441" y="397764"/>
                  </a:lnTo>
                  <a:close/>
                </a:path>
              </a:pathLst>
            </a:custGeom>
            <a:solidFill>
              <a:srgbClr val="EBEBEB"/>
            </a:solidFill>
          </p:spPr>
        </p:sp>
      </p:grpSp>
      <p:grpSp>
        <p:nvGrpSpPr>
          <p:cNvPr name="Group 35" id="35"/>
          <p:cNvGrpSpPr/>
          <p:nvPr/>
        </p:nvGrpSpPr>
        <p:grpSpPr>
          <a:xfrm rot="0">
            <a:off x="197592" y="4618414"/>
            <a:ext cx="17010000" cy="1050171"/>
            <a:chOff x="0" y="0"/>
            <a:chExt cx="22680000" cy="1400228"/>
          </a:xfrm>
        </p:grpSpPr>
        <p:sp>
          <p:nvSpPr>
            <p:cNvPr name="Freeform 36" id="36"/>
            <p:cNvSpPr/>
            <p:nvPr/>
          </p:nvSpPr>
          <p:spPr>
            <a:xfrm flipH="false" flipV="false" rot="0">
              <a:off x="0" y="0"/>
              <a:ext cx="22680000" cy="1400228"/>
            </a:xfrm>
            <a:custGeom>
              <a:avLst/>
              <a:gdLst/>
              <a:ahLst/>
              <a:cxnLst/>
              <a:rect r="r" b="b" t="t" l="l"/>
              <a:pathLst>
                <a:path h="1400228" w="22680000">
                  <a:moveTo>
                    <a:pt x="0" y="0"/>
                  </a:moveTo>
                  <a:lnTo>
                    <a:pt x="22680000" y="0"/>
                  </a:lnTo>
                  <a:lnTo>
                    <a:pt x="22680000" y="1400228"/>
                  </a:lnTo>
                  <a:lnTo>
                    <a:pt x="0" y="1400228"/>
                  </a:lnTo>
                  <a:close/>
                </a:path>
              </a:pathLst>
            </a:custGeom>
            <a:solidFill>
              <a:srgbClr val="000000">
                <a:alpha val="0"/>
              </a:srgbClr>
            </a:solidFill>
          </p:spPr>
        </p:sp>
        <p:sp>
          <p:nvSpPr>
            <p:cNvPr name="TextBox 37" id="37"/>
            <p:cNvSpPr txBox="true"/>
            <p:nvPr/>
          </p:nvSpPr>
          <p:spPr>
            <a:xfrm>
              <a:off x="0" y="-9525"/>
              <a:ext cx="22680000" cy="1409753"/>
            </a:xfrm>
            <a:prstGeom prst="rect">
              <a:avLst/>
            </a:prstGeom>
          </p:spPr>
          <p:txBody>
            <a:bodyPr anchor="ctr" rtlCol="false" tIns="0" lIns="0" bIns="0" rIns="0"/>
            <a:lstStyle/>
            <a:p>
              <a:pPr algn="ctr">
                <a:lnSpc>
                  <a:spcPts val="7776"/>
                </a:lnSpc>
              </a:pPr>
              <a:r>
                <a:rPr lang="en-US" sz="6480" b="true">
                  <a:solidFill>
                    <a:srgbClr val="000000"/>
                  </a:solidFill>
                  <a:latin typeface="Trebuchet MS Bold"/>
                  <a:ea typeface="Trebuchet MS Bold"/>
                  <a:cs typeface="Trebuchet MS Bold"/>
                  <a:sym typeface="Trebuchet MS Bold"/>
                </a:rPr>
                <a:t>Thank you</a:t>
              </a:r>
            </a:p>
          </p:txBody>
        </p:sp>
      </p:grpSp>
      <p:sp>
        <p:nvSpPr>
          <p:cNvPr name="TextBox 38" id="38"/>
          <p:cNvSpPr txBox="true"/>
          <p:nvPr/>
        </p:nvSpPr>
        <p:spPr>
          <a:xfrm rot="0">
            <a:off x="5683238" y="6999083"/>
            <a:ext cx="3026662" cy="1581037"/>
          </a:xfrm>
          <a:prstGeom prst="rect">
            <a:avLst/>
          </a:prstGeom>
        </p:spPr>
        <p:txBody>
          <a:bodyPr anchor="t" rtlCol="false" tIns="0" lIns="0" bIns="0" rIns="0">
            <a:spAutoFit/>
          </a:bodyPr>
          <a:lstStyle/>
          <a:p>
            <a:pPr algn="ctr">
              <a:lnSpc>
                <a:spcPts val="2879"/>
              </a:lnSpc>
            </a:pPr>
            <a:r>
              <a:rPr lang="en-US" sz="2400">
                <a:solidFill>
                  <a:srgbClr val="000000"/>
                </a:solidFill>
                <a:latin typeface="Trebuchet MS"/>
                <a:ea typeface="Trebuchet MS"/>
                <a:cs typeface="Trebuchet MS"/>
                <a:sym typeface="Trebuchet MS"/>
              </a:rPr>
              <a:t>.</a:t>
            </a:r>
          </a:p>
        </p:txBody>
      </p:sp>
      <p:sp>
        <p:nvSpPr>
          <p:cNvPr name="TextBox 39" id="39"/>
          <p:cNvSpPr txBox="true"/>
          <p:nvPr/>
        </p:nvSpPr>
        <p:spPr>
          <a:xfrm rot="0">
            <a:off x="12978484" y="6999083"/>
            <a:ext cx="3026662" cy="1581037"/>
          </a:xfrm>
          <a:prstGeom prst="rect">
            <a:avLst/>
          </a:prstGeom>
        </p:spPr>
        <p:txBody>
          <a:bodyPr anchor="t" rtlCol="false" tIns="0" lIns="0" bIns="0" rIns="0">
            <a:spAutoFit/>
          </a:bodyPr>
          <a:lstStyle/>
          <a:p>
            <a:pPr algn="ctr">
              <a:lnSpc>
                <a:spcPts val="2879"/>
              </a:lnSpc>
            </a:pPr>
            <a:r>
              <a:rPr lang="en-US" sz="2400">
                <a:solidFill>
                  <a:srgbClr val="000000"/>
                </a:solidFill>
                <a:latin typeface="Trebuchet MS"/>
                <a:ea typeface="Trebuchet MS"/>
                <a:cs typeface="Trebuchet MS"/>
                <a:sym typeface="Trebuchet MS"/>
              </a:rPr>
              <a:t>.</a:t>
            </a:r>
          </a:p>
        </p:txBody>
      </p:sp>
      <p:grpSp>
        <p:nvGrpSpPr>
          <p:cNvPr name="Group 40" id="40"/>
          <p:cNvGrpSpPr>
            <a:grpSpLocks noChangeAspect="true"/>
          </p:cNvGrpSpPr>
          <p:nvPr/>
        </p:nvGrpSpPr>
        <p:grpSpPr>
          <a:xfrm rot="0">
            <a:off x="1013936" y="9707880"/>
            <a:ext cx="3214688" cy="289560"/>
            <a:chOff x="0" y="0"/>
            <a:chExt cx="4286250" cy="386080"/>
          </a:xfrm>
        </p:grpSpPr>
        <p:sp>
          <p:nvSpPr>
            <p:cNvPr name="Freeform 41" id="41"/>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2"/>
              <a:stretch>
                <a:fillRect l="0" t="-2518486" r="-135857"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DAG2JQPuoq4</dc:identifier>
  <dcterms:modified xsi:type="dcterms:W3CDTF">2011-08-01T06:04:30Z</dcterms:modified>
  <cp:revision>1</cp:revision>
  <dc:title>[Your Name]_Netflix Data Analysis Project PPT 3 (1).pptx</dc:title>
</cp:coreProperties>
</file>